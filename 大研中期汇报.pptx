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老师好，我今天汇报</a:t>
            </a:r>
            <a:r>
              <a:rPr lang="zh-CN" sz="1200">
                <a:latin typeface="PingFang SC"/>
              </a:rPr>
              <a:t>一下中期的成果</a:t>
            </a:r>
            <a:endParaRPr lang="zh-CN" sz="1200">
              <a:latin typeface="PingFang SC"/>
            </a:endParaRPr>
          </a:p>
          <a:p>
            <a:r>
              <a:rPr lang="zh-CN" sz="1200">
                <a:latin typeface="PingFang SC"/>
              </a:rPr>
              <a:t>首先</a:t>
            </a:r>
            <a:r>
              <a:rPr lang="en-US" altLang="zh-CN" sz="1200">
                <a:latin typeface="PingFang SC"/>
              </a:rPr>
              <a:t>，</a:t>
            </a:r>
            <a:r>
              <a:rPr lang="zh-CN" altLang="en-US" sz="1200">
                <a:latin typeface="PingFang SC"/>
              </a:rPr>
              <a:t>我们这个大研的</a:t>
            </a:r>
            <a:r>
              <a:rPr sz="1200">
                <a:latin typeface="PingFang SC"/>
              </a:rPr>
              <a:t>题目是"大模型技术在数学建模与求解教学中的应用方法研究"。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我先说明本次汇报的边界：A1 和 A2 两个主案例已经跑通，prompt、task card、运行记录、指标表、故障修复记录和原型入口形成了一条可复查的证据链。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但正式受试者数据还没有开始采集，所以今天不会把它说成已经验证了大样本教学效果。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重点汇报已经完成的案例闭环、方法框架和预试验准备，以及对"做这些有没有实际意义"做一个诚实的判断。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汇报分五个部分。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第一部分讲选题、研究目标和方法路线；第二部分讲案例选择、整理出的方法框架和实验设计；第三部分是 A1 和 A2 两个主案例的实际结果和边界；第四部分是 CLI 原型和 S01-S04 预试验计划。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第五部分是综合段，专门用来回答三个问题：研究目的到底是什么、成果可以怎么用、投放到 USTC 有什么好处。这部分会主动暴露『不能说什么』的边界，避免结论说过头。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我会尽量在每一页都给出可以回查的证据，而不是只给观点。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这一页主要是定一个口径，让老师听完汇报后能清楚分辨哪些是已经做的、哪些是还没做的、哪些是我有意不去下的强结论。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我目前能稳定汇报的是三件事：A1、A2 两个主案例已闭环；中期材料和原型入口已收口；首轮 4 人预试验任务包已就位。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我会主动指出几个边界，比如 A2 的三组提示最终指标完全一致——这件事必须讲清楚，不能藏。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我也想提前讲清楚我不会说的话：不会把今天的结果写成"结构化指导显著提高最终图像质量"，也不会写成"大样本教学效果已经被验证"。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我把时间线按实际推进画出来。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3 月中旬，先从比较宽的"大模型辅助建模"收束到 A1 Seam Carving，用它把 task card、run 文档、metrics 的链路跑通。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3 月底完成 A1 三组提示条件的主实验、固定协议复现和 9 条 bug repair。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4 月中旬把 A2 从"SVD 图像压缩"的宽口径收束到灰度图像修复主案例，因为这个任务的 mask 不变量和 PSNR / SSIM / RSE 更适合做固定协议对照。完成了固定协议、扩展案例和 fresh-generation 三层证据，一共 60 条恢复结果。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4 月下旬把模板库、检查清单、错误分类和题库索引都整理成 v1，并把 CLI 原型补出 advisor 演示模式。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5 月中下旬完成内部 dry-run，把 S01-S04 四个 task pack 全部预建好。今天汇报后启动正式 pilot。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这个课题最初的观察非常具体：大模型能很快给出代码或解题方案，但教学里真正难评估的恰好是过程。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学生拿到一个答案如果是错的，问题可能出在题意理解、建模假设、接口定义、shape 处理、不变量丢失、实现细节，甚至是把结果回填到评分材料的步骤上。这些环节单看最终答案是分辨不出来的。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所以我没有一开始就比较"回答看起来好不好"。而是先把任务选成能本地跑、能量化、也能设计固定错误的形式。每一次生成都尽量落到文档、代码、输出和指标表里，这样后面讨论时可以回到证据，不靠主观印象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这页右边那张卡片是我目前的方法主线，我会在后面几页一点点展开。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研究目标可以浓缩成一句话：做一套"过程化指导 + 结构化检查 + 纠错评估"的教学辅助流程。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具体到三个子目标：过程质量、纠错质量、研究资产。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过程质量看的是：结构化指导能不能让题目边界、约束、自检讲得更清楚。所以我会追踪自检覆盖、根因解释、约束列举这些痕迹。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纠错质量看的是：固定错误下能不能说清根因、给出最小补丁、做回归验证。所以我会记诊断说明、补丁可运行、回归通过和修复轮次。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研究资产看的是：能不能沉淀成题库、模板、原型和试用材料，让后面的研究继续接得上。这一部分是中期阶段最看得见摸得着的成果。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这是目前实际采用的研究路线，5 步。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第一步任务收束，把宽方向落到 A1 和 A2 两个可执行案例。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第二步设计提示条件，让 direct answer、plain guidance、coe_guided 三组共享同一套协议，方便横向比较。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第三步生成和执行，包括代码、图像输出、阶段小结和运行记录，全部落到磁盘。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第四步结构化检查，重点看接口、不变量、固定协议和常见失败模式。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第五步把结果回填到指标表和试用表单里。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我一直强调一个核心约束——每个结论都要能回到 prompt、代码、run 文档、metrics，所以这套路线本身就是为可复查性服务的。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案例选择上，我没有追求题目数量越多越好，而是先看它能不能支撑研究链路。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标准有 5 条：能本地复现、能评分、能构造固定错误、能多提示条件对照、时长 20-30 分钟适合做单次 session。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A1 和 A2 同时满足这 5 条，所以作为主案例。A1 的优势是 DP 边界、尺寸约束和图像输出比较清楚；A2 的优势是 mask 不变量和 PSNR / SSIM / RSE 比较稳定，适合做固定协议对照。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A3 曲线拟合、A4 Poisson 融合先作为题库扩展入口冻结，等主案例的结论稳了以后再推进。这是一个我自己有意识地控制范围的选择——比起铺开 8 个题目都不深入，把两个题目做扎实更重要。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这一页讲我已经整理出的资产规模。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顶部 5 个数字给老师一个量级感：16 个正式题库条目、57 个运行记录、18 条 bug-repair、162 行 metrics、1 次 dry-run 加 4 个待跑 pilot session。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但我想强调的不是数量本身，而是这些材料是分层组织的。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第一层是 4 个主案例家族——A1 和 A2 已闭环，A3 和 A4 冻结首发条目。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第二层是固定协议和扩展条目，比如 A2 在 4 张图 × 4 种污染下的扩展案例。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第三层是 failure cases，A1 和 A2 各 3 个 curated bug。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有一个我自己刻意把握的边界：direct / plain / coe 的同类 rerun 是证据材料，不能直接计入题库条目数——否则会让"题库规模"听起来比实际大。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这一页是我目前整理的方法框架。把材料分成输入层、过程层和产物层。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输入层是题目要求、task card、固定协议；过程层是 Reader / Planner / Coder / Reviewer / Experimenter 五个角色——这正好对应我们 prompt 模板里的 CoE 多角色结构；产物层是代码、运行记录、阶段小结和 metrics CSV 行。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具体到一次指导，我会要求它走固定 6 步：重述题目、明确输入输出、列约束、拆步骤、补自检、回填评分材料。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这套框架不是为了让回答变长，而是为了把三件事固定下来：为什么这样做、检查了哪些约束、结果怎么进入评分材料。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这一页讲结构化检查和错误分类。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左边是任务特定的不变量。A1 关注的是：只做缩小、DP 边界、seam 连续性、高度转置复用、dtype 范围。A2 关注的是：mask 约束、mask 极性、只写回低秩分量 L、输出范围，以及 PSNR/SSIM/RSE 能算出来。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右边是 7 类错误分类。这套分类不是空想出来的——它对应我在 A1 和 A2 真实出现过的 18 条 bug-repair 记录。每个 bug 都能落到这 7 个类别里的某一类。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更重要的是底部那句话：评分时不只看"修好没"，还要看"为什么错 / 改了哪里 / 改完有没有回归"。这种打分方式让我能够把正确性和过程可解释性分开看。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实验设计上，每一次生成都进入同一条证据链：从 prompt 到代码和输出，再到 run 文档、metrics 和 summary。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A2 的固定协议是 2 张图（lena、barbara）× 2 种污染（random_pixel 50% 和 text 50%）× 256 灰度，记录 PSNR、SSIM、RSE、runtime 和 output_ok。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A1 和 A2 都分了 baseline、replication、bug-repair 三条轨道。A2 还多了 expanded-scope（更大图像和污染范围）和 fresh-generation（不复用旧 artifact，重新生成）两层。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这个设计的目的不是一次性证明所有结论，而是先把每个阶段的证据留住，让不同提示条件在过程质量和纠错质量上的差异能被比较。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这一页用 A1 Seam Carving 做案例展示。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左边的 4 联图是 case_landscape_original 的实际输出——原图、energy map、找到的 seam、最后缩小后的结果。这张图是 run_007 plain_guidance 跑出来的，证据可以一路从 runs/2026-03-26_run_007 文档查到 outputs/hw1_op1/run_007_plain_guidance/。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右上是关键函数 find_vertical_seam 的代码片段。注意里面的两行 assert——这是结构化指导留下的痕迹：seam 必须连续、不越界。direct_answer 模式生成的版本经常没有这两行 assert；plain_guidance 和 coe_guided 模式下会被 Task Card 要求显式写出来。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下面那张表就是这个意思的量化结果：三组提示在最终的"维度对齐"上都过，但"seam 连续性"和"DP 边界"两个不变量只在 plain 和 coe 下被显式检查并写出来。圆圈表示"代码能跑过但没显式断言"，对号表示"显式断言并解释"。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A1 阶段结果。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guidance 评估表显示：三种提示下最终正确性都是满分 2 分 / 4 个 run 全部正确。但自检覆盖差异明显——direct_answer 是 0/4，plain 和 coe 都是 4/4。这是结构化指导唯一能稳定拉开差距的指标。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bug-repair 评估表显示：三组提示下 9 个 bug 都一次修对，诊断、可运行、回归全部通过。差异不在修复成功率，而在诊断说明和回归说明的完整度。coe_guided 的平均修复时间略长（1.03 min vs direct 的 0.57 min）——这是结构化角色带来的小开销。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我必须坦白讲：当前样本量这么小（每组 4 个 run），不能说"结构化指导显著抬高最终正确率"。能说的是过程痕迹（自检 / 回归说明）更完整。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这是 A2 主案例的展示。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左边是 run_032 coe_guided 模式跑出来的 lena + text@50% 恢复结果。原图、被文字污染、恢复后，三张图一行。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右边是关键函数 rslt_inpainting，重点是里面那三个不变量注释。第一条：observed 像素必须保留；第二条：RPCA 分解后只把低秩 L 写回，不能把稀疏 S 也写回去——这就是 A2.bug_03 的核心；第三条：每轮迭代结束都要强制把 observed 区域覆盖回去——这就是 A2.bug_01。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A2 的范围我后面会重点讲——它从 Timeline 文档里的"SVD 图像压缩"宽口径，收束到了这个 hw2-op2/src/chapter5_rslt.py::rslt_inpainting 灰度图像修复主案例。这是一次有意识的收束，不是偏离方向。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A2 阶段结果。这一页有两个关键信息。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左上的固定协议均值表：三组提示下 PSNR / SSIM / RSE / output_ok 都完全相同——25.42 / 0.756 / 0.145 / 20-of-20。完全一致，不是接近。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左下分 case 的表给出更细节的原因：4 个固定 case 在所有 15 次 run 中产出的 (PSNR, SSIM, RSE) 完全一致。lena+random 是 15.15，barbara+text 是 34.97。每一个 case 都唯一。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右边那个面板是 A2 的多层证据：baseline 3 个、replication 9 个、bug-repair 9 个、expanded-scope 48 个 case、fresh-generation 3 个——一共 60 条恢复结果加 48 条扩展，证据链是分多层的。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但因为指标完全一致这件事很关键，我下一页要单独讲。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这是一张我必须主动放进汇报的页。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A2 在固定协议下，三组提示的 PSNR / SSIM / RSE 在 60 个 run 上完全相同。所以我不能写成"结构化指导显著抬高最终图像质量"，否则就是结论说过头。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为什么会这样？RSLT inpainting 在固定 mask 和参数下，本身是一个数值上接近确定性的算法。三组提示只改了"怎么写"，没改算法或参数。一旦能跑通且 mask 处理正确，最终输出就几乎一致。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但这个发现并不否定结构化指导的价值。它支持的是一组更精确的结论：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第一，三组结果一致本身是稳健性证据——扩展到 48 个 case、fresh-generation 重新生成都回到同一结果。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第二，差异落在过程：plain / coe 更稳定地写出显式自检、mask 约束检查、回归说明。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我会主动告诉老师这个边界。把"过程质量"和"最终指标"分开讲，比硬塞一个抬升数字更可信，也更能让后面的 pilot 数据真有意义。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这一页是 18 条 bug-repair 评估。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左边表列出 6 个 curated failure case，每个 bug 都是有明确技术症状的——DP 边界越界、删 seam 后不重算 energy、高度转置错误、mask 约束丢失、mask 极性反、把稀疏 S 写回图像。这些不是凭空想出来的，都是 A1 / A2 实际开发过程中真的会出现的实现错误。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右上结果：18 条 bug-repair runs 全部 diagnosis 正确、patch 可运行、回归通过，修复轮次 0。也就是说三组提示下都能一次修对。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但我同样要讲边界——这能证明流程和表单是可用的，错误分类和回归验证能落到实际材料里。但样本量还不够推到大样本稳健性。这正是 S01-S04 预试验要补的部分：让 4 个真实参与者去走一遍同一套流程，看脚本之外的人是否也能跑通。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这一页用代码块对照三种提示条件。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左边 direct_answer 最简单：给题目要求和主接口，直接要代码，不给 task card。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中间 plain_guidance：在 direct 的基础上加 task card 和评测协议，让模型按 checklist 检查。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右边 coe_guided 是 CoE 多角色结构：5 个角色 Reader / Planner / Coder / Reviewer / Experimenter，每个角色有固定输出格式。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这三种共享同一题目、同一评测协议，差别只在 prompt 的结构化程度。这是我整个实验设计能横向比较的前提。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中期阶段一共整理了 6 个 v1 模板——A1 / A2 × baseline / bug_repair × direct / plain / coe，每个模板都对应可复查的 prompt 文件、run 文档和 metrics 行。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这一页讲 CLI 原型和 dry-run。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左边是 run_research_case.py --demo advisor 的运行示意。它不是重新跑实验，而是把已有的题目、task card、prompt、run 文档、metrics 摘要按固定顺序串起来。本质上是把"这条研究链路有哪些证据"做了一个最小可演示的入口。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也支持按 --case / --mode / --track 拉取任意一次具体的 run。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右边是内部 dry-run 的记录。日期是 4 月 20 号，编号 PILOT_20260420_000。我以参与者身份做了一次 T2_A1_bug_01 + process_guided_workflow 任务，首次可运行 8 分钟、总时长 17 分钟、需要帮助 0 次。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完整产出包括 participant form、notes、patched code、verify script、session record、scoring sheet 和 CSV——也就是真实 pilot 会留下的全部材料。这次 dry-run 的目的就是验证表单链路能跑通、字段没有大缺口，然后再做正式的 4 人 pilot。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S01-S04 预试验计划。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表格里 DRY-01 是已完成的内部 dry-run，下面 S01 到 S04 是首轮正式 pilot 的 4 个 session。任务和条件分配已经冻结：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- S01：A1 bug_01 + baseline workflow + P01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- S02：A1 bug_01 + process-guided workflow + P02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- S03：A2 bug_01 + baseline workflow + P03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- S04：A2 bug_01 + process-guided workflow + P04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也就是 2 个任务 × 2 个条件，每人只做一个 session，避免学习效应。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单 session 大概 38-48 分钟：5 分钟填表 + 3 分钟说明 + 20-30 分钟修 bug + 5 分钟主观评价 + 5 分钟研究者补记录。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首轮完成标准很务实——4 个 session 全部走完、每个都留下 form / record / scoring sheet、CSV 至少 4 行。如果首轮发现表单字段有缺口，先改模板再开第二轮，不急着扩大样本。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这一页是把我前面 15 页讲的所有东西，浓缩到老师可以记住的一句话和三个事实上。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一句话：把大模型在数学建模 / 数值计算这类有编程的理工课程里，从『给学生一个答案』变成『留下一条可检查、可复现、可评分的过程证据链』。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三个事实分别是：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现实——学生已经大量在用 LLM 写代码。这不是要不要禁的问题，而是用了之后怎么评、怎么教的问题。回避它，评分就会退化成『代码能跑就给分』。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问题——直接看最终答案分辨不出学生是否理解。错误常藏在 mask、DP 边界、矩阵 shape 这些位置，答案对不等于学到了，答案错也不等于没学到。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方法——把整条生成过程强制落盘成可复查的材料：题意重述、算法规划、代码、自检、回归验证。在这套材料上，再谈评分、谈教学才有意义。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最后底部那句话我会特别强调一下边界：这是方法学研究，不是 prompt engineering，也不是 AI 教学效果实证研究。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这一页讲『做出来的东西可以怎么用』。我故意按使用者分了三层，越往下越接近真实教学。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第一层是研究本身的方法资产：6 个 prompt 模板、错误分类规则、结构化检查清单、16 条目题库索引。这一层主要给我自己和后续做类似研究的人复用。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第二层是课程作业可以直接复用的内容：18 条 failure case 可以改造成『找 bug + 修 bug』作业；bug-repair task card 加 scoring sheet 让助教按统一口径打分；A1 和 A2 两个完整的过程化作业可以当作未来设计 AI 时代编程作业的模板。这一层最有教学落地价值。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第三层是学生和 TA 可以直接拿去用的工具：CLI 原型可以演示，pilot 任务包 S01-S04 是现成的 30-40 分钟试用材料，participant form 和 session record 模板已经在 dry-run 里跑通过。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我想强调的是：第二层和第三层在中期阶段就已经做出来了，不是『等正式数据再说』——这些资产现在就可以放进 USTC 的课程里试。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这一页直接回答老师可能会问的『投放到 USTC 有什么好处』。我故意贴 USTC 的真实情况，不写成通用 AI 教育研究的话术。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5 点好处：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第一，对应 USTC 已经在发生的真实情况。数学建模、数值计算、信号与系统、图像处理这些课作业本来就是编程，USTC 学生 LLM 使用率高。当前矛盾是『放任 vs 禁止』，这个课题给出第三条路——允许使用但保留过程证据。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第二，提供『AI 时代作业怎么布置』的样例。A1 和 A2 都是 USTC 真实课程作业方向，hw1_op1 和 hw2_op2 都是真实作业。两个案例闭环本质上回答了：作业该长什么样、要求学生交什么、怎么打分。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第三，failure case 库可以直接作为公开教学资源。6 个 bug 都是学生真实会犯的实现错误，在 LLM 时代『读 bug + 修 bug』类作业比『从零写代码』更能考察理解。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第四，本身就是一个『诚实做研究』的大研样例。五层证据、主动暴露 A2 指标趋同的 awkward finding、可复现仓库——对一个本科生的研究训练价值不亚于结论本身。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第五，可衔接 USTC 内部更大范围教学评估。S01-S04 之后自然延伸是和某门课助教合作做真实学生试用。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右下角那个边界框是我刻意放上去的——4 人 pilot 未跑、跨课程迁移性开放、A2 指标完全一致这三件事我会主动说出来，不让老师觉得我在过度推销。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这一页直接回答老师可能会问的："你做的这些到底有没有实际意义。"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我把它分成"可辩护"和"现阶段还不能声称"两栏，省得对方追问的时候我答得不清楚。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可辩护的 5 点：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第一，把模型生成从"一次回答"变成"可复查的证据链"——这是这个项目最核心的方法贡献，不是 prompt engineering，而是把整条 prompt-code-run-metrics 链路落盘。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第二，把"过程是否说清楚"和"结果是否正确"分开评估。这点很重要，因为大模型经常"答案对但过程黑盒"，会掩盖学生的学习问题。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第三，failure-case 库可以直接被教学复用——6 个 curated bug 是真实出现过的实现错误，做成 task pack 后学生可以直接练习。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第四，模板 + checklist + 错误分类是可迁移的，不局限于 A1/A2。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第五，正式教学评估的采集链路已经验证过了，表单、评分表、CSV、dry-run 都齐备。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现阶段还不能声称的 5 点：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大样本教学效果未验证、不能说"结构化抬高最终指标"、对 A1/A2 之外任务迁移性未知、学生主观评价和学习收益未测、三组提示的差异是否真对教学有帮助还要看 pilot。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中期最稳的判断写在底部：方法链路、案例资产、评估材料已经就绪——下一步是用真实参与者去验证。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风险与边界——4 条主动声明。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R1 模板字段不够：首轮 pilot 中可能发现表单字段在真实参与者下不够清晰。处理方式是先 4 人不扩大，首轮结束后优先修模板。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R2 A2 指标趋同：固定协议下三组指标完全一致，无法用于"结果差异"叙事。处理方式是主动改用过程质量叙事，不强行抬升数字。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R3 A3 / A4 迁移性未知：首发条目已冻结但未进正式实验。处理方式是主案例稳定后再扩展，不铺开未闭环题目。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R4 自我评估偏差：目前 18 条 bug-repair 都是研究者自评。处理方式是 pilot 中刻意不暴露 diagnosis 和 fixed_code 给参与者，用陌生人复测。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这一页的目的是让老师看到我对自己的工作有边界感，不是把所有问题都藏起来。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PingFang SC"/>
              </a:rPr>
              <a:t>最后做一个收束。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中期阶段一句话：主案例已闭环，正式采集前的材料已经准备好。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左边"已完成"5 点：A1 / A2 主案例闭环、16 条目题库 + 模板 v1、18 条 bug-repair、CLI 原型 + dry-run、S01-S04 task pack 已冻结。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中间"当前结论"5 点：可复查证据链成型、结构化指导优势在过程（自检/根因/回归说明）、A2 固定协议下最终指标不显著拉开、不做大样本教学效果断言。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右边"下一步"4 步：启动 4 个 pilot session、即时回填材料、根据反馈修模板、之后再推 A3/A4 和学生扩样本。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我的中期阶段总结就是：主案例已经闭环，正式采集前的材料已经准备好；当前结论主要落在过程质量、可复查性和采集准备三点上。</a:t>
            </a:r>
            <a:endParaRPr sz="1200">
              <a:latin typeface="PingFang SC"/>
            </a:endParaRPr>
          </a:p>
          <a:p>
            <a:r>
              <a:rPr sz="1200">
                <a:latin typeface="PingFang SC"/>
              </a:rPr>
              <a:t>后面我准备了几个常见追问的简答，老师如果有任何一页想看背后的具体证据——比如某个 run 文档、metrics 行、代码或 prompt——我都可以现场打开仓库给您看。谢谢老师。</a:t>
            </a:r>
            <a:endParaRPr sz="1200">
              <a:latin typeface="PingFang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349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大研课题 · 中期汇报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PingFang SC"/>
              </a:rPr>
              <a:t>大模型在数学建模与求解教学中的应用方法研究</a:t>
            </a:r>
            <a:endParaRPr sz="34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CD6E6"/>
                </a:solidFill>
                <a:latin typeface="PingFang SC"/>
              </a:rPr>
              <a:t>Process-Guided Code Generation · Structured Review · Bug Repair</a:t>
            </a:r>
            <a:endParaRPr sz="1600" b="0">
              <a:solidFill>
                <a:srgbClr val="CCD6E6"/>
              </a:solidFill>
              <a:latin typeface="PingFang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5213985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5221605"/>
            <a:ext cx="10332720" cy="803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>
                <a:solidFill>
                  <a:srgbClr val="222222"/>
                </a:solidFill>
                <a:latin typeface="PingFang SC"/>
              </a:rPr>
              <a:t>•  汇报范围：A1 / A2 主案例闭环、方法框架、纠错评估、小样本预试验准备</a:t>
            </a:r>
            <a:endParaRPr sz="16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600">
                <a:solidFill>
                  <a:srgbClr val="222222"/>
                </a:solidFill>
                <a:latin typeface="PingFang SC"/>
              </a:rPr>
              <a:t>•  阶段判断：主案例已闭环；正式受试者数据尚未采集</a:t>
            </a:r>
            <a:endParaRPr sz="16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汇报提纲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01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4480" y="1097280"/>
            <a:ext cx="215773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21665" y="1207008"/>
            <a:ext cx="20482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一 · 选题与方法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18186" y="1691640"/>
            <a:ext cx="987552" cy="0"/>
          </a:xfrm>
          <a:prstGeom prst="line">
            <a:avLst/>
          </a:prstGeom>
          <a:ln w="19050">
            <a:solidFill>
              <a:srgbClr val="C2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6745" y="1783080"/>
            <a:ext cx="2048256" cy="188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01 题目与阶段边界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02 阶段定位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03 问题起点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04 研究目标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05 研究路线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39720" y="1097280"/>
            <a:ext cx="2212848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10408" y="1207008"/>
            <a:ext cx="20482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二 · 案例与框架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710409" y="1678305"/>
            <a:ext cx="987552" cy="0"/>
          </a:xfrm>
          <a:prstGeom prst="line">
            <a:avLst/>
          </a:prstGeom>
          <a:ln w="19050">
            <a:solidFill>
              <a:srgbClr val="C2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10408" y="1783080"/>
            <a:ext cx="2048256" cy="2249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06 案例选择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07 案例资产 (16 条目)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08 过程化指导框架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09 结构化检查 + 错误分类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10 实验设计与证据链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850358" y="1097280"/>
            <a:ext cx="2212848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99151" y="1207008"/>
            <a:ext cx="20482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三 · 实验结果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099152" y="1691640"/>
            <a:ext cx="987552" cy="0"/>
          </a:xfrm>
          <a:prstGeom prst="line">
            <a:avLst/>
          </a:prstGeom>
          <a:ln w="19050">
            <a:solidFill>
              <a:srgbClr val="C2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45050" y="1783080"/>
            <a:ext cx="2345055" cy="188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11-12 A1 案例展示 + 结果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13-14 A2 案例展示 + 结果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15 A2 关键边界说明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16 纠错评估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17 Prompt 模板三组对照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06615" y="1097280"/>
            <a:ext cx="2183765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3439" y="1207008"/>
            <a:ext cx="20482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四 · 原型与预试验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403440" y="1691640"/>
            <a:ext cx="987552" cy="0"/>
          </a:xfrm>
          <a:prstGeom prst="line">
            <a:avLst/>
          </a:prstGeom>
          <a:ln w="19050">
            <a:solidFill>
              <a:srgbClr val="C2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68210" y="1783080"/>
            <a:ext cx="218376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18 CLI 原型 + dry run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19 S01–S04 预试验计划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471025" y="1097280"/>
            <a:ext cx="24688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07727" y="1207008"/>
            <a:ext cx="20482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五 · 综合与展望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9707728" y="1691640"/>
            <a:ext cx="987552" cy="0"/>
          </a:xfrm>
          <a:prstGeom prst="line">
            <a:avLst/>
          </a:prstGeom>
          <a:ln w="19050">
            <a:solidFill>
              <a:srgbClr val="C2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474200" y="1783080"/>
            <a:ext cx="2601595" cy="2249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20 研究目的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21 成果如何使用 · 三层使用者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22 对 USTC 的具体好处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23 实际意义·可辩护/不可辩护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24 风险、边界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9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25 结论与下一步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01  题目与阶段边界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02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研究的核心不是『让模型直接给学生答案』，而是把生成过程整理为可检查、可复现、可评分的教学流程。</a:t>
            </a:r>
            <a:endParaRPr sz="16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PingFang SC"/>
              </a:rPr>
              <a:t>✓ 本次可以汇报的</a:t>
            </a:r>
            <a:endParaRPr sz="15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383280" cy="1964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A1 Seam Carving 主案例闭环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A2 低秩图像修复主案例闭环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题库、模板、指标表、bug-repair 协议已成体系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CLI 原型可演示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首轮 4 人预试验任务包已就位</a:t>
            </a:r>
            <a:endParaRPr sz="14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6280" y="199339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C25700"/>
                </a:solidFill>
                <a:latin typeface="PingFang SC"/>
              </a:rPr>
              <a:t>△ 当前阶段边界</a:t>
            </a:r>
            <a:endParaRPr sz="15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2606040"/>
            <a:ext cx="3383280" cy="1964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正式受试者数据尚未采集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样本量为研究者自测 + 内部 dry-run 1 次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A2 三组提示在最终指标上一致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A3 / A4 仅冻结首发条目，未进入正式实验</a:t>
            </a:r>
            <a:endParaRPr sz="14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F0F0F2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199339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555555"/>
                </a:solidFill>
                <a:latin typeface="PingFang SC"/>
              </a:rPr>
              <a:t>✗ 现阶段不下的结论</a:t>
            </a:r>
            <a:endParaRPr sz="1500" b="1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2606040"/>
            <a:ext cx="3383280" cy="102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『结构化指导显著抬高最终指标』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『大样本教学效果已验证』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替代真实学生试用的对照数据</a:t>
            </a:r>
            <a:endParaRPr sz="14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02  阶段定位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03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按实际推进顺序：选题收束 → 主案例闭环 → 中期资产成型 → 预试验准备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13969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865376" cy="411480"/>
          </a:xfrm>
          <a:prstGeom prst="roundRect">
            <a:avLst>
              <a:gd name="adj" fmla="val 3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3 月中旬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865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25700"/>
                </a:solidFill>
                <a:latin typeface="PingFang SC"/>
              </a:rPr>
              <a:t>选题收束</a:t>
            </a:r>
            <a:endParaRPr sz="15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1865376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A1 Seam Carving 主案例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task card + run + metrics 跑通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明确『过程化指导』口径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706624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7319" y="1783080"/>
            <a:ext cx="213969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924479" y="1920240"/>
            <a:ext cx="1865376" cy="411480"/>
          </a:xfrm>
          <a:prstGeom prst="roundRect">
            <a:avLst>
              <a:gd name="adj" fmla="val 3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3 月底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4479" y="2468880"/>
            <a:ext cx="1865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25700"/>
                </a:solidFill>
                <a:latin typeface="PingFang SC"/>
              </a:rPr>
              <a:t>A1 闭环</a:t>
            </a:r>
            <a:endParaRPr sz="15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4479" y="3017520"/>
            <a:ext cx="1865376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3 种提示条件主实验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fixed-protocol replication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9 条 bug-repair benchmark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945303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5999" y="1783080"/>
            <a:ext cx="213969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163159" y="1920240"/>
            <a:ext cx="1865376" cy="411480"/>
          </a:xfrm>
          <a:prstGeom prst="roundRect">
            <a:avLst>
              <a:gd name="adj" fmla="val 3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4 月中旬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63159" y="2468880"/>
            <a:ext cx="1865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25700"/>
                </a:solidFill>
                <a:latin typeface="PingFang SC"/>
              </a:rPr>
              <a:t>A2 闭环</a:t>
            </a:r>
            <a:endParaRPr sz="15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63159" y="3017520"/>
            <a:ext cx="1865376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范围收束到 rslt_inpainting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fixed protocol + expanded + fresh-gen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60 条恢复结果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183983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64679" y="1783080"/>
            <a:ext cx="213969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401839" y="1920240"/>
            <a:ext cx="1865376" cy="411480"/>
          </a:xfrm>
          <a:prstGeom prst="roundRect">
            <a:avLst>
              <a:gd name="adj" fmla="val 3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4 月下旬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1839" y="2468880"/>
            <a:ext cx="1865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25700"/>
                </a:solidFill>
                <a:latin typeface="PingFang SC"/>
              </a:rPr>
              <a:t>中期资产</a:t>
            </a:r>
            <a:endParaRPr sz="15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1839" y="3017520"/>
            <a:ext cx="1865376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题库 16 条目成型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模板 v1 / checklist / 错误分类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CLI 原型 advisor 模式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9422663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3359" y="1783080"/>
            <a:ext cx="213969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9640519" y="1920240"/>
            <a:ext cx="1865376" cy="411480"/>
          </a:xfrm>
          <a:prstGeom prst="roundRect">
            <a:avLst>
              <a:gd name="adj" fmla="val 3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5 月中下旬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0519" y="2468880"/>
            <a:ext cx="18653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25700"/>
                </a:solidFill>
                <a:latin typeface="PingFang SC"/>
              </a:rPr>
              <a:t>预试验准备</a:t>
            </a:r>
            <a:endParaRPr sz="15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40519" y="3017520"/>
            <a:ext cx="1865376" cy="138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内部 dry-run 完成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S01–S04 task pack 已冻结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今天汇报后启动正式 pilot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03  问题起点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04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F3A5F"/>
                </a:solidFill>
                <a:latin typeface="PingFang SC"/>
              </a:rPr>
              <a:t>大模型确实能很快写出代码或方案，但教学里真正难评估的是『过程』。</a:t>
            </a:r>
            <a:endParaRPr sz="18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2222"/>
                </a:solidFill>
                <a:latin typeface="PingFang SC"/>
              </a:rPr>
              <a:t>学生拿到一个错答，问题可能出在：</a:t>
            </a:r>
            <a:endParaRPr sz="14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417320" cy="411480"/>
          </a:xfrm>
          <a:prstGeom prst="roundRect">
            <a:avLst>
              <a:gd name="adj" fmla="val 40000"/>
            </a:avLst>
          </a:prstGeom>
          <a:solidFill>
            <a:srgbClr val="E9EFF7"/>
          </a:solidFill>
          <a:ln w="6350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PingFang SC"/>
              </a:rPr>
              <a:t>题意理解</a:t>
            </a:r>
            <a:endParaRPr sz="12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57400" y="2331720"/>
            <a:ext cx="1417320" cy="411480"/>
          </a:xfrm>
          <a:prstGeom prst="roundRect">
            <a:avLst>
              <a:gd name="adj" fmla="val 40000"/>
            </a:avLst>
          </a:prstGeom>
          <a:solidFill>
            <a:srgbClr val="E9EFF7"/>
          </a:solidFill>
          <a:ln w="6350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PingFang SC"/>
              </a:rPr>
              <a:t>建模假设</a:t>
            </a:r>
            <a:endParaRPr sz="12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66160" y="2331720"/>
            <a:ext cx="1417320" cy="411480"/>
          </a:xfrm>
          <a:prstGeom prst="roundRect">
            <a:avLst>
              <a:gd name="adj" fmla="val 40000"/>
            </a:avLst>
          </a:prstGeom>
          <a:solidFill>
            <a:srgbClr val="FFF4E0"/>
          </a:solidFill>
          <a:ln w="6350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PingFang SC"/>
              </a:rPr>
              <a:t>接口定义</a:t>
            </a:r>
            <a:endParaRPr sz="12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417320" cy="411480"/>
          </a:xfrm>
          <a:prstGeom prst="roundRect">
            <a:avLst>
              <a:gd name="adj" fmla="val 40000"/>
            </a:avLst>
          </a:prstGeom>
          <a:solidFill>
            <a:srgbClr val="FFF4E0"/>
          </a:solidFill>
          <a:ln w="6350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PingFang SC"/>
              </a:rPr>
              <a:t>shape 处理</a:t>
            </a:r>
            <a:endParaRPr sz="12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57400" y="2834640"/>
            <a:ext cx="1417320" cy="411480"/>
          </a:xfrm>
          <a:prstGeom prst="roundRect">
            <a:avLst>
              <a:gd name="adj" fmla="val 40000"/>
            </a:avLst>
          </a:prstGeom>
          <a:solidFill>
            <a:srgbClr val="FFE6E6"/>
          </a:solidFill>
          <a:ln w="6350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PingFang SC"/>
              </a:rPr>
              <a:t>不变量丢失</a:t>
            </a:r>
            <a:endParaRPr sz="12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66160" y="2834640"/>
            <a:ext cx="1417320" cy="411480"/>
          </a:xfrm>
          <a:prstGeom prst="roundRect">
            <a:avLst>
              <a:gd name="adj" fmla="val 40000"/>
            </a:avLst>
          </a:prstGeom>
          <a:solidFill>
            <a:srgbClr val="E6F4E0"/>
          </a:solidFill>
          <a:ln w="6350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PingFang SC"/>
              </a:rPr>
              <a:t>实现细节</a:t>
            </a:r>
            <a:endParaRPr sz="12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1417320" cy="411480"/>
          </a:xfrm>
          <a:prstGeom prst="roundRect">
            <a:avLst>
              <a:gd name="adj" fmla="val 40000"/>
            </a:avLst>
          </a:prstGeom>
          <a:solidFill>
            <a:srgbClr val="E6F4E0"/>
          </a:solidFill>
          <a:ln w="6350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PingFang SC"/>
              </a:rPr>
              <a:t>评分回填缺失</a:t>
            </a:r>
            <a:endParaRPr sz="12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只看最后答案，无法判断学生是否理解，也无法判断模型在哪一环起作用。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212080" cy="429768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484632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3A5F"/>
                </a:solidFill>
                <a:latin typeface="PingFang SC"/>
              </a:rPr>
              <a:t>→ 我的处理方式</a:t>
            </a:r>
            <a:endParaRPr sz="20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2514600"/>
            <a:ext cx="4846320" cy="2082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选能本地跑、能量化、能设计固定错误的任务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8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每次生成都落到文档、代码、输出和指标表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8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讨论时回到证据，而不是凭印象说『模型好像有帮助』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8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把『过程是否说清楚』和『结果是否正确』分开打分</a:t>
            </a:r>
            <a:endParaRPr sz="14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85000"/>
              </a:lnSpc>
            </a:pPr>
            <a:r>
              <a:rPr sz="1400">
                <a:solidFill>
                  <a:srgbClr val="222222"/>
                </a:solidFill>
                <a:latin typeface="PingFang SC"/>
              </a:rPr>
              <a:t>•  用相同协议在不同提示条件之间做横向比较</a:t>
            </a:r>
            <a:endParaRPr sz="14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04  研究目标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05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F3A5F"/>
                </a:solidFill>
                <a:latin typeface="PingFang SC"/>
              </a:rPr>
              <a:t>做一套『过程化指导 + 结构化检查 + 纠错评估』的教学辅助流程。</a:t>
            </a:r>
            <a:endParaRPr sz="18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703320" cy="640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F3A5F"/>
                </a:solidFill>
                <a:latin typeface="PingFang SC"/>
              </a:rPr>
              <a:t>过程质量</a:t>
            </a:r>
            <a:endParaRPr sz="18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429000" cy="694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22222"/>
                </a:solidFill>
                <a:latin typeface="PingFang SC"/>
              </a:rPr>
              <a:t>结构化指导能不能让题目边界、约束和自检项说得更清楚？</a:t>
            </a:r>
            <a:endParaRPr sz="14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自检覆盖</a:t>
            </a:r>
            <a:endParaRPr sz="11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77440" y="411480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根因解释</a:t>
            </a:r>
            <a:endParaRPr sz="11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约束列举</a:t>
            </a:r>
            <a:endParaRPr sz="11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77440" y="461772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1F3A5F"/>
                </a:solidFill>
                <a:latin typeface="PingFang SC"/>
              </a:rPr>
              <a:t>可复查痕迹</a:t>
            </a:r>
            <a:endParaRPr sz="11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0832" y="182880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70832" y="1828800"/>
            <a:ext cx="3703320" cy="6400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1168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25700"/>
                </a:solidFill>
                <a:latin typeface="PingFang SC"/>
              </a:rPr>
              <a:t>纠错质量</a:t>
            </a:r>
            <a:endParaRPr sz="18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3712" y="2606040"/>
            <a:ext cx="3429000" cy="694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22222"/>
                </a:solidFill>
                <a:latin typeface="PingFang SC"/>
              </a:rPr>
              <a:t>遇到固定错误时，能不能说清根因、给出最小修补、做回归验证？</a:t>
            </a:r>
            <a:endParaRPr sz="14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53712" y="411480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25700"/>
                </a:solidFill>
                <a:latin typeface="PingFang SC"/>
              </a:rPr>
              <a:t>诊断说明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99632" y="411480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25700"/>
                </a:solidFill>
                <a:latin typeface="PingFang SC"/>
              </a:rPr>
              <a:t>最小补丁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53712" y="461772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25700"/>
                </a:solidFill>
                <a:latin typeface="PingFang SC"/>
              </a:rPr>
              <a:t>回归通过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99632" y="461772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25700"/>
                </a:solidFill>
                <a:latin typeface="PingFang SC"/>
              </a:rPr>
              <a:t>修复轮次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193024" y="182880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93024" y="1828800"/>
            <a:ext cx="3703320" cy="64008"/>
          </a:xfrm>
          <a:prstGeom prst="rect">
            <a:avLst/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201168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4A6B35"/>
                </a:solidFill>
                <a:latin typeface="PingFang SC"/>
              </a:rPr>
              <a:t>研究资产</a:t>
            </a:r>
            <a:endParaRPr sz="18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75904" y="2606040"/>
            <a:ext cx="3429000" cy="694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22222"/>
                </a:solidFill>
                <a:latin typeface="PingFang SC"/>
              </a:rPr>
              <a:t>案例能不能整理成题库、模板、原型和试用材料？</a:t>
            </a:r>
            <a:endParaRPr sz="14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75904" y="411480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4A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4A6B35"/>
                </a:solidFill>
                <a:latin typeface="PingFang SC"/>
              </a:rPr>
              <a:t>16 个题库条目</a:t>
            </a:r>
            <a:endParaRPr sz="11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21824" y="411480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4A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4A6B35"/>
                </a:solidFill>
                <a:latin typeface="PingFang SC"/>
              </a:rPr>
              <a:t>Prompt 模板 v1</a:t>
            </a:r>
            <a:endParaRPr sz="11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75904" y="461772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4A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4A6B35"/>
                </a:solidFill>
                <a:latin typeface="PingFang SC"/>
              </a:rPr>
              <a:t>CLI 原型</a:t>
            </a:r>
            <a:endParaRPr sz="11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021824" y="4617720"/>
            <a:ext cx="1554480" cy="41148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 w="9525">
            <a:solidFill>
              <a:srgbClr val="4A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4A6B35"/>
                </a:solidFill>
                <a:latin typeface="PingFang SC"/>
              </a:rPr>
              <a:t>Pilot 表单</a:t>
            </a:r>
            <a:endParaRPr sz="1100" b="1">
              <a:solidFill>
                <a:srgbClr val="4A6B35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05  研究路线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06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PingFang SC"/>
              </a:rPr>
              <a:t>5 步研究路线 —— 每一步都必须能回到 prompt / 代码 / run 文档 / metrics。</a:t>
            </a:r>
            <a:endParaRPr sz="15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13969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865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C25700"/>
                </a:solidFill>
                <a:latin typeface="Helvetica Neue" panose="02000503000000020004"/>
              </a:rPr>
              <a:t>01</a:t>
            </a:r>
            <a:endParaRPr sz="4400" b="1">
              <a:solidFill>
                <a:srgbClr val="C25700"/>
              </a:solidFill>
              <a:latin typeface="Helvetica Neue" panose="020005030000000200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任务收束</a:t>
            </a:r>
            <a:endParaRPr sz="16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749040"/>
            <a:ext cx="186537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把宽方向落到可执行案例</a:t>
            </a:r>
            <a:endParaRPr sz="11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A1 Seam Carving / A2 rslt_inpainting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706624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7319" y="1920240"/>
            <a:ext cx="213969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924479" y="2057400"/>
            <a:ext cx="1865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C25700"/>
                </a:solidFill>
                <a:latin typeface="Helvetica Neue" panose="02000503000000020004"/>
              </a:rPr>
              <a:t>02</a:t>
            </a:r>
            <a:endParaRPr sz="4400" b="1">
              <a:solidFill>
                <a:srgbClr val="C25700"/>
              </a:solidFill>
              <a:latin typeface="Helvetica Neue" panose="020005030000000200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4479" y="3154680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设计提示条件</a:t>
            </a:r>
            <a:endParaRPr sz="16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4479" y="3749040"/>
            <a:ext cx="186537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direct_answer / plain_guidance / coe_guided</a:t>
            </a:r>
            <a:endParaRPr sz="11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共享同一套协议，可横向比较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945303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5999" y="1920240"/>
            <a:ext cx="213969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163159" y="2057400"/>
            <a:ext cx="1865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C25700"/>
                </a:solidFill>
                <a:latin typeface="Helvetica Neue" panose="02000503000000020004"/>
              </a:rPr>
              <a:t>03</a:t>
            </a:r>
            <a:endParaRPr sz="4400" b="1">
              <a:solidFill>
                <a:srgbClr val="C25700"/>
              </a:solidFill>
              <a:latin typeface="Helvetica Neue" panose="020005030000000200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63159" y="3154680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生成与执行</a:t>
            </a:r>
            <a:endParaRPr sz="16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63159" y="3749040"/>
            <a:ext cx="186537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代码、图像输出、运行记录、阶段小结</a:t>
            </a:r>
            <a:endParaRPr sz="11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全部落盘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183983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64679" y="1920240"/>
            <a:ext cx="213969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01839" y="2057400"/>
            <a:ext cx="1865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C25700"/>
                </a:solidFill>
                <a:latin typeface="Helvetica Neue" panose="02000503000000020004"/>
              </a:rPr>
              <a:t>04</a:t>
            </a:r>
            <a:endParaRPr sz="4400" b="1">
              <a:solidFill>
                <a:srgbClr val="C25700"/>
              </a:solidFill>
              <a:latin typeface="Helvetica Neue" panose="020005030000000200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1839" y="3154680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结构化检查</a:t>
            </a:r>
            <a:endParaRPr sz="16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1839" y="3749040"/>
            <a:ext cx="186537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接口、不变量、固定协议、常见失败</a:t>
            </a:r>
            <a:endParaRPr sz="11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按错误分类逐项检查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9422663" y="3611880"/>
            <a:ext cx="53263" cy="274320"/>
          </a:xfrm>
          <a:prstGeom prst="rightArrow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3359" y="1920240"/>
            <a:ext cx="213969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40519" y="2057400"/>
            <a:ext cx="1865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C25700"/>
                </a:solidFill>
                <a:latin typeface="Helvetica Neue" panose="02000503000000020004"/>
              </a:rPr>
              <a:t>05</a:t>
            </a:r>
            <a:endParaRPr sz="4400" b="1">
              <a:solidFill>
                <a:srgbClr val="C25700"/>
              </a:solidFill>
              <a:latin typeface="Helvetica Neue" panose="020005030000000200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0519" y="3154680"/>
            <a:ext cx="18653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结果回填</a:t>
            </a:r>
            <a:endParaRPr sz="16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40519" y="3749040"/>
            <a:ext cx="186537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metrics CSV + run 文档 + pilot 表单</a:t>
            </a:r>
            <a:endParaRPr sz="11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保证可复查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5852160"/>
            <a:ext cx="11155680" cy="50292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核心约束：每个结论都要能回到 prompt、代码、run 文档、metrics，不靠主观感觉说『好像有效』。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06  案例选择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07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5 条选案标准，先看能不能支撑研究链路，再看数量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PingFang SC"/>
              </a:rPr>
              <a:t>选案标准</a:t>
            </a:r>
            <a:endParaRPr sz="15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03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① 可本地复现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214884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不依赖外部接口/数据，研究者笔电就能跑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5303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② 可评分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292608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指标稳定，能用 PSNR/SSIM/正确性/自检打分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303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③ 可构造固定错误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23160" y="370332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能人为植入 bug，做修复实验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5303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④ 可在多提示条件下对照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3160" y="448056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direct / plain / coe 共享同一套验收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79"/>
            <a:ext cx="5303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5257799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⑤ 时长 20-30 分钟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3160" y="5257799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适合做学生试用的单次 session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PingFang SC"/>
              </a:rPr>
              <a:t>案例评估</a:t>
            </a:r>
            <a:endParaRPr sz="15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2103120"/>
          <a:ext cx="54863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768"/>
                <a:gridCol w="1540042"/>
                <a:gridCol w="481263"/>
                <a:gridCol w="481263"/>
                <a:gridCol w="481263"/>
                <a:gridCol w="481263"/>
                <a:gridCol w="134753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编号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任务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①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②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③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④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状态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A1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Seam Carving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主案例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A2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RSLT inpainting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主案例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A3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曲线拟合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—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—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首发条目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A4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Poisson 融合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—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—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首发条目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217920" y="4617720"/>
            <a:ext cx="5486400" cy="15544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25700"/>
                </a:solidFill>
                <a:latin typeface="PingFang SC"/>
              </a:rPr>
              <a:t>中期主案例先选 A1 / A2。</a:t>
            </a:r>
            <a:endParaRPr sz="13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C25700"/>
                </a:solidFill>
                <a:latin typeface="PingFang SC"/>
              </a:rPr>
              <a:t>A3 / A4 已冻结首发条目但暂不进入正式实验——</a:t>
            </a:r>
            <a:endParaRPr sz="13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C25700"/>
                </a:solidFill>
                <a:latin typeface="PingFang SC"/>
              </a:rPr>
              <a:t>比铺开更多没闭环的题目更稳。</a:t>
            </a:r>
            <a:endParaRPr sz="1300" b="0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07  案例资产 · 中期主干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08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21396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139696" cy="640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1396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1F3A5F"/>
                </a:solidFill>
                <a:latin typeface="Helvetica Neue" panose="02000503000000020004"/>
              </a:rPr>
              <a:t>16</a:t>
            </a:r>
            <a:endParaRPr sz="3400" b="1">
              <a:solidFill>
                <a:srgbClr val="1F3A5F"/>
              </a:solidFill>
              <a:latin typeface="Helvetica Neue" panose="020005030000000200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题库正式条目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87319" y="914400"/>
            <a:ext cx="21396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787319" y="914400"/>
            <a:ext cx="2139696" cy="6400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7319" y="1097280"/>
            <a:ext cx="21396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25700"/>
                </a:solidFill>
                <a:latin typeface="Helvetica Neue" panose="02000503000000020004"/>
              </a:rPr>
              <a:t>57</a:t>
            </a:r>
            <a:endParaRPr sz="3400" b="1">
              <a:solidFill>
                <a:srgbClr val="C25700"/>
              </a:solidFill>
              <a:latin typeface="Helvetica Neue" panose="020005030000000200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7319" y="17830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运行记录 run docs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5999" y="914400"/>
            <a:ext cx="21396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25999" y="914400"/>
            <a:ext cx="2139696" cy="64008"/>
          </a:xfrm>
          <a:prstGeom prst="rect">
            <a:avLst/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5999" y="1097280"/>
            <a:ext cx="21396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4A6B35"/>
                </a:solidFill>
                <a:latin typeface="Helvetica Neue" panose="02000503000000020004"/>
              </a:rPr>
              <a:t>18</a:t>
            </a:r>
            <a:endParaRPr sz="3400" b="1">
              <a:solidFill>
                <a:srgbClr val="4A6B35"/>
              </a:solidFill>
              <a:latin typeface="Helvetica Neue" panose="020005030000000200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5999" y="17830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故障修复 bug-repair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64679" y="914400"/>
            <a:ext cx="21396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8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264679" y="914400"/>
            <a:ext cx="2139696" cy="64008"/>
          </a:xfrm>
          <a:prstGeom prst="rect">
            <a:avLst/>
          </a:prstGeom>
          <a:solidFill>
            <a:srgbClr val="88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4679" y="1097280"/>
            <a:ext cx="21396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883366"/>
                </a:solidFill>
                <a:latin typeface="Helvetica Neue" panose="02000503000000020004"/>
              </a:rPr>
              <a:t>162</a:t>
            </a:r>
            <a:endParaRPr sz="3400" b="1">
              <a:solidFill>
                <a:srgbClr val="883366"/>
              </a:solidFill>
              <a:latin typeface="Helvetica Neue" panose="020005030000000200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4679" y="17830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指标行 metrics rows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503359" y="914400"/>
            <a:ext cx="21396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3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503359" y="914400"/>
            <a:ext cx="2139696" cy="64008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3359" y="1097280"/>
            <a:ext cx="21396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336699"/>
                </a:solidFill>
                <a:latin typeface="Helvetica Neue" panose="02000503000000020004"/>
              </a:rPr>
              <a:t>1+4</a:t>
            </a:r>
            <a:endParaRPr sz="3400" b="1">
              <a:solidFill>
                <a:srgbClr val="336699"/>
              </a:solidFill>
              <a:latin typeface="Helvetica Neue" panose="020005030000000200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03359" y="17830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dry-run + 待跑 pilot session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PingFang SC"/>
              </a:rPr>
              <a:t>题库三层结构（共 16 条正式条目）</a:t>
            </a:r>
            <a:endParaRPr sz="15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1 · 主案例家族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3520440"/>
          <a:ext cx="3657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011680"/>
                <a:gridCol w="100584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ID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家族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状态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Seam Carving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completed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rslt_inpainting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completed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A3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曲线拟合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entry_frozen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A4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Poisson 融合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entry_frozen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343400" y="31546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2 · 固定协议 / 扩展条目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343400" y="3520440"/>
          <a:ext cx="3657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</a:tblGrid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entry_id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条目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A1.width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width shrink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A1.height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height shrink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A2.random_pixel_50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fixed: random 50%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A2.text_50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fixed: text 50%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A2.exp_lena_text_30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扩展: lena+text 30%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A2.exp_peppers_random_70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扩展: peppers+random 70%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A3.curve_fitting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曲线拟合 (首发)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A4.poisson_blending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Poisson 融合 (首发)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138160" y="31546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3 · Failure Cases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8138160" y="3520440"/>
          <a:ext cx="3566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</a:tblGrid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entry_id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failure case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A1.bug_01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dp_boundary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A1.bug_02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no_energy_recompute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A1.bug_03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height_transpose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A2.bug_01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missing_mask_constraint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A2.bug_02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mask_polarity_inverted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A2.bug_03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sparse_component_written_back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548640" y="5989320"/>
            <a:ext cx="11155680" cy="50292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强调点：不是『同类 run 越多越好』——重复 run 是证据材料，不是题库条目。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08  过程化指导框架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09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输入层 → 过程层 → 产物层，每一层都有可指向的文件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118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输入层</a:t>
            </a:r>
            <a:endParaRPr sz="17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337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题目要求 (problems/*.md)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Task Card (task_cards/*.md)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固定协议 (a*_eval_protocol_v0.md)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允许 / 不允许使用的材料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5112" y="155448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25112" y="1554480"/>
            <a:ext cx="3611880" cy="50292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过程层</a:t>
            </a:r>
            <a:endParaRPr sz="17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07992" y="2194560"/>
            <a:ext cx="3337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读题解释 (Reader)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建模规划 (Planner)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编码实现 (Coder)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审查纠错 (Reviewer)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实验分析 (Experimenter)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01584" y="155448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101584" y="1554480"/>
            <a:ext cx="3611880" cy="502920"/>
          </a:xfrm>
          <a:prstGeom prst="rect">
            <a:avLst/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产物层</a:t>
            </a:r>
            <a:endParaRPr sz="17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4464" y="2194560"/>
            <a:ext cx="3337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代码 + 图像输出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运行记录 (runs/*.md)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阶段小结 (report/*_summary.md)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metrics CSV 行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一次指导的固定 6 步动作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783080" cy="502920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25700"/>
                </a:solidFill>
                <a:latin typeface="PingFang SC"/>
              </a:rPr>
              <a:t>1. 重述题目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10907" y="5532120"/>
            <a:ext cx="1783080" cy="502920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25700"/>
                </a:solidFill>
                <a:latin typeface="PingFang SC"/>
              </a:rPr>
              <a:t>2. 明确输入输出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73174" y="5532120"/>
            <a:ext cx="1783080" cy="502920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25700"/>
                </a:solidFill>
                <a:latin typeface="PingFang SC"/>
              </a:rPr>
              <a:t>3. 列出约束 / 不变量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35441" y="5532120"/>
            <a:ext cx="1783080" cy="502920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25700"/>
                </a:solidFill>
                <a:latin typeface="PingFang SC"/>
              </a:rPr>
              <a:t>4. 拆成可执行步骤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97708" y="5532120"/>
            <a:ext cx="1783080" cy="502920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25700"/>
                </a:solidFill>
                <a:latin typeface="PingFang SC"/>
              </a:rPr>
              <a:t>5. 补自检点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859975" y="5532120"/>
            <a:ext cx="1783080" cy="502920"/>
          </a:xfrm>
          <a:prstGeom prst="roundRect">
            <a:avLst>
              <a:gd name="adj" fmla="val 30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25700"/>
                </a:solidFill>
                <a:latin typeface="PingFang SC"/>
              </a:rPr>
              <a:t>6. 回填评分材料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09  结构化检查 + 错误分类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10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PingFang SC"/>
              </a:rPr>
              <a:t>1 · 任务特定不变量</a:t>
            </a:r>
            <a:endParaRPr sz="15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A1 · Seam Carving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只做 shrink, 不做 enlarge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DP 边界 j-1, j+1 越界处理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seam 连续性 |diff| ≤ 1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高度方向通过 transpose 复用宽度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输出 dtype / 像素范围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A2 · RSLT inpainting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mask 约束: observed 区域保持不变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mask 极性: 1=keep / 0=missing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RPCA: 只把 L 写回, 不写 S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输出 finite, 范围 [0, 1]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PSNR / SSIM / RSE 必须能算出来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PingFang SC"/>
              </a:rPr>
              <a:t>2 · 错误分类 (7 类)</a:t>
            </a:r>
            <a:endParaRPr sz="15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463040"/>
          <a:ext cx="548639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4206239"/>
              </a:tblGrid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类别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典型表现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范围漂移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做了 enlarge / 输出维度不对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接口输入输出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函数签名 / 参数顺序错误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核心不变量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mask 被写坏 / seam 不连续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算法逻辑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DP 状态转移错误 / RPCA 收敛不对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shape / 数值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矩阵维度不匹配 / NaN / Inf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材料完整性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没出图 / 没写 summary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结果解释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PSNR 报错 / 没说明回归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623560"/>
            <a:ext cx="11155680" cy="77724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5700"/>
                </a:solidFill>
                <a:latin typeface="PingFang SC"/>
              </a:rPr>
              <a:t>评分时不只看『修好没』, 也看：为什么错 / 改了哪里 / 改完是否做了回归。</a:t>
            </a:r>
            <a:endParaRPr sz="12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5700"/>
                </a:solidFill>
                <a:latin typeface="PingFang SC"/>
              </a:rPr>
              <a:t>这样把『正确性』和『过程可解释性』分开打分, 才能真正比较三种提示条件。</a:t>
            </a:r>
            <a:endParaRPr sz="1200" b="0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10  实验设计与证据链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11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每一次生成都进入同一条证据链 ——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Prompt</a:t>
            </a:r>
            <a:endParaRPr sz="15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350008" y="2011680"/>
            <a:ext cx="499033" cy="27432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76473" y="15087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Code</a:t>
            </a:r>
            <a:endParaRPr sz="1500" b="1">
              <a:solidFill>
                <a:srgbClr val="FFFFFF"/>
              </a:solidFill>
              <a:latin typeface="PingFang SC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+ Outputs</a:t>
            </a:r>
            <a:endParaRPr sz="15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677841" y="2011680"/>
            <a:ext cx="499033" cy="27432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4307" y="15087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Run doc</a:t>
            </a:r>
            <a:endParaRPr sz="1500" b="1">
              <a:solidFill>
                <a:srgbClr val="FFFFFF"/>
              </a:solidFill>
              <a:latin typeface="PingFang SC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(.md)</a:t>
            </a:r>
            <a:endParaRPr sz="15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7005675" y="2011680"/>
            <a:ext cx="499033" cy="27432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32141" y="15087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88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Metrics</a:t>
            </a:r>
            <a:endParaRPr sz="1500" b="1">
              <a:solidFill>
                <a:srgbClr val="FFFFFF"/>
              </a:solidFill>
              <a:latin typeface="PingFang SC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(CSV)</a:t>
            </a:r>
            <a:endParaRPr sz="15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9333509" y="2011680"/>
            <a:ext cx="499033" cy="27432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59975" y="15087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Summary</a:t>
            </a:r>
            <a:endParaRPr sz="1500" b="1">
              <a:solidFill>
                <a:srgbClr val="FFFFFF"/>
              </a:solidFill>
              <a:latin typeface="PingFang SC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(.md)</a:t>
            </a:r>
            <a:endParaRPr sz="15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A2 固定协议 (fixed protocol)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474720"/>
          <a:ext cx="1115567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502"/>
                <a:gridCol w="8765177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取值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图像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lena, barbara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污染方式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random_pixel @ 50%, text @ 50%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尺寸 / 类型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256 × 256, grayscale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指标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PSNR, SSIM, RSE, runtime, output_ok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实验轨道 (tracks)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5394960"/>
            <a:ext cx="213969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54681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5700"/>
                </a:solidFill>
                <a:latin typeface="PingFang SC"/>
              </a:rPr>
              <a:t>baseline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9568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首轮三种提示条件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787319" y="5394960"/>
            <a:ext cx="213969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878759" y="54681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5700"/>
                </a:solidFill>
                <a:latin typeface="PingFang SC"/>
              </a:rPr>
              <a:t>replication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78759" y="5852160"/>
            <a:ext cx="19568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同协议下的复现实验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5999" y="5394960"/>
            <a:ext cx="213969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117439" y="54681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5700"/>
                </a:solidFill>
                <a:latin typeface="PingFang SC"/>
              </a:rPr>
              <a:t>bug-repair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17439" y="5852160"/>
            <a:ext cx="19568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固定故障下的修复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64679" y="5394960"/>
            <a:ext cx="213969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56119" y="54681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5700"/>
                </a:solidFill>
                <a:latin typeface="PingFang SC"/>
              </a:rPr>
              <a:t>expanded-scope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56119" y="5852160"/>
            <a:ext cx="19568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更大图像 / 污染范围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503359" y="5394960"/>
            <a:ext cx="213969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94799" y="54681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5700"/>
                </a:solidFill>
                <a:latin typeface="PingFang SC"/>
              </a:rPr>
              <a:t>fresh-generation</a:t>
            </a:r>
            <a:endParaRPr sz="12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594799" y="5852160"/>
            <a:ext cx="19568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重新生成而非复用 artifact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11  A1 案例展示 · Seam Carving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12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pic>
        <p:nvPicPr>
          <p:cNvPr id="5" name="Picture 4" descr="compare_gr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6035040" cy="3448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00154"/>
            <a:ext cx="60350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PingFang SC"/>
              </a:rPr>
              <a:t>case_landscape_original · 4-way 对比 (原图 / energy / seam / 缩小后)</a:t>
            </a:r>
            <a:endParaRPr sz="1000" i="1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3A5F"/>
                </a:solidFill>
                <a:latin typeface="PingFang SC"/>
              </a:rPr>
              <a:t>关键函数 · find_vertical_seam (含自检)</a:t>
            </a:r>
            <a:endParaRPr sz="12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5120" y="141732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91440" rIns="137160" bIns="91440" rtlCol="0" anchor="ctr"/>
          <a:lstStyle/>
          <a:p>
            <a:pPr algn="l"/>
            <a:r>
              <a:rPr sz="1000" i="1">
                <a:solidFill>
                  <a:srgbClr val="8699C4"/>
                </a:solidFill>
                <a:latin typeface="Menlo" panose="020B0609030804020204"/>
              </a:rPr>
              <a:t># python</a:t>
            </a:r>
            <a:endParaRPr sz="1000" i="1">
              <a:solidFill>
                <a:srgbClr val="8699C4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def find_vertical_seam(energy):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h, w = energy.shape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dp, backtrack = build_cumulative_cost(energy)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seam = np.zeros(h, dtype=np.int32)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seam[h-1] = int(np.argmin(dp[h-1]))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for i in range(h-2, -1, -1):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    seam[i] = backtrack[i+1, seam[i+1]]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# 自检：seam 必须连续 + 不越界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assert np.all(np.abs(np.diff(seam)) &lt;= 1)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assert np.all((seam &gt;= 0) &amp; (seam &lt; w))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  return seam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43434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3A5F"/>
                </a:solidFill>
                <a:latin typeface="PingFang SC"/>
              </a:rPr>
              <a:t>三种提示条件下，被检查的不变量</a:t>
            </a:r>
            <a:endParaRPr sz="12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4754880"/>
          <a:ext cx="502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检查项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direct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plain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coe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seam 连续性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○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DP 边界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○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维度对齐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回归说明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—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✓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12  A1 阶段结果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13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A1 主案例 · 12 条 guidance + 18 条性能 + 9 条 bug-repair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三种提示条件 · guidance 评估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40080"/>
                <a:gridCol w="1005840"/>
                <a:gridCol w="914400"/>
                <a:gridCol w="14630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mode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runs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正确性=2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自检=2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首次工作 min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direct_answer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4/4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0/4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2.40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plain_guidance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4/4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4/4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4.50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coe_guided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4/4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4/4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2.08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三种提示条件 · bug-repair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526280"/>
          <a:ext cx="56692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822959"/>
                <a:gridCol w="914399"/>
                <a:gridCol w="822959"/>
                <a:gridCol w="146303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mode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诊断✓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可运行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回归✓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修补 min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direct_answer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0.57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plain_guidance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0.83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coe_guided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3/3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1.03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1554480"/>
            <a:ext cx="5212080" cy="475488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A1 当前结论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三种提示下最终正确率都达标 (4/4)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差异主要出现在自检覆盖：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direct = 0/4   plain = 4/4   coe = 4/4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9 条 bug-repair 在三组下均一次修对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区别在『诊断说明 / 回归说明』的完整度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coe_guided 平均修复时间略长 →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多角色结构会带来轻微 overhead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75120" y="5440680"/>
            <a:ext cx="4846320" cy="77724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25700"/>
                </a:solidFill>
                <a:latin typeface="PingFang SC"/>
              </a:rPr>
              <a:t>诚实说法：当前样本无法说『结构化</a:t>
            </a:r>
            <a:endParaRPr sz="1100" b="1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C25700"/>
                </a:solidFill>
                <a:latin typeface="PingFang SC"/>
              </a:rPr>
              <a:t>指导显著抬高最终正确率』。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13  A2 案例展示 · RSLT inpainting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14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pic>
        <p:nvPicPr>
          <p:cNvPr id="5" name="Picture 4" descr="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6035040" cy="2154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205638"/>
            <a:ext cx="60350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PingFang SC"/>
              </a:rPr>
              <a:t>lena · text@50% · CoE-guided 恢复结果 (run_032)</a:t>
            </a:r>
            <a:endParaRPr sz="1000" i="1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3A5F"/>
                </a:solidFill>
                <a:latin typeface="PingFang SC"/>
              </a:rPr>
              <a:t>rslt_inpainting · 关键三条不变量</a:t>
            </a:r>
            <a:endParaRPr sz="12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5120" y="1417320"/>
            <a:ext cx="5029200" cy="36576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91440" rIns="137160" bIns="91440" rtlCol="0" anchor="ctr"/>
          <a:lstStyle/>
          <a:p>
            <a:pPr algn="l"/>
            <a:r>
              <a:rPr sz="900" i="1">
                <a:solidFill>
                  <a:srgbClr val="8699C4"/>
                </a:solidFill>
                <a:latin typeface="Menlo" panose="020B0609030804020204"/>
              </a:rPr>
              <a:t># python</a:t>
            </a:r>
            <a:endParaRPr sz="900" i="1">
              <a:solidFill>
                <a:srgbClr val="8699C4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def rslt_inpainting(corrupted, mask, ...):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# 不变量 1: observed 像素必须保留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observed = corrupted.copy()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mask_bool = mask.astype(bool)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for outer in range(outer_iter):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    # 对每个 patch group 做 RPCA (L + S 分解)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    L, S, _ = rpca_ialm(group_matrix, lam=lam)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    # 不变量 2: 只把低秩 L 写回, 不写 S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    recovered = unstack_patches(L + group_mean, ...)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    current = weighted_combine(recovered)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    # 不变量 3: observed 区域强制覆盖回去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    current[mask_bool] = observed[mask_bool]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  return np.clip(current, 0, 1), history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516636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55555"/>
                </a:solidFill>
                <a:latin typeface="PingFang SC"/>
              </a:rPr>
              <a:t>hw2-op2/src/chapter5_rslt.py::rslt_inpainting(...)</a:t>
            </a:r>
            <a:endParaRPr sz="1100" b="0">
              <a:solidFill>
                <a:srgbClr val="555555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555555"/>
                </a:solidFill>
                <a:latin typeface="PingFang SC"/>
              </a:rPr>
              <a:t>→ A2 主案例聚焦点：低秩图像任务族下的灰度图像修复</a:t>
            </a:r>
            <a:endParaRPr sz="1100" b="0">
              <a:solidFill>
                <a:srgbClr val="555555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14  A2 阶段结果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15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A2 主案例 · 15 条 guidance + 60 条恢复结果 + 48 条扩展 + 9 条 bug-repair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固定协议 · 三组提示均值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mode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PSNR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SSIM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RSE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output_ok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direct_answer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25.42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0.756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0.145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20/20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plain_guidance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25.42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0.756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0.145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20/20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coe_guided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25.42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0.756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0.145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PingFang SC"/>
                        </a:rPr>
                        <a:t>20/20</a:t>
                      </a:r>
                      <a:endParaRPr sz="12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固定协议 · 4 个 case 的指标 (15 runs 全部一致)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434840"/>
          <a:ext cx="56692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475"/>
                <a:gridCol w="1115268"/>
                <a:gridCol w="1115268"/>
                <a:gridCol w="111526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case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PSNR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SSIM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RSE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lena · random@50%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15.15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0.377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0.325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lena · text@50%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27.26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0.948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0.081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barbara · random@50%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24.28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0.724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0.136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barbara · text@50%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34.97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0.976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PingFang SC"/>
                        </a:rPr>
                        <a:t>0.040</a:t>
                      </a:r>
                      <a:endParaRPr sz="11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1554480"/>
            <a:ext cx="5212080" cy="475488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A2 多层证据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2148840"/>
            <a:ext cx="4846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l"/>
            <a:r>
              <a:rPr sz="1200" b="1">
                <a:solidFill>
                  <a:srgbClr val="C25700"/>
                </a:solidFill>
                <a:latin typeface="PingFang SC"/>
              </a:rPr>
              <a:t>Baseline  </a:t>
            </a:r>
            <a:r>
              <a:rPr sz="1000">
                <a:solidFill>
                  <a:srgbClr val="555555"/>
                </a:solidFill>
                <a:latin typeface="Menlo" panose="020B0609030804020204"/>
              </a:rPr>
              <a:t>(run_030 ~ run_032)</a:t>
            </a:r>
            <a:endParaRPr sz="1000">
              <a:solidFill>
                <a:srgbClr val="555555"/>
              </a:solidFill>
              <a:latin typeface="Menlo" panose="020B0609030804020204"/>
            </a:endParaRPr>
          </a:p>
          <a:p>
            <a:r>
              <a:rPr sz="1100">
                <a:solidFill>
                  <a:srgbClr val="222222"/>
                </a:solidFill>
                <a:latin typeface="PingFang SC"/>
              </a:rPr>
              <a:t>3 条 guidance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75120" y="2971800"/>
            <a:ext cx="4846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l"/>
            <a:r>
              <a:rPr sz="1200" b="1">
                <a:solidFill>
                  <a:srgbClr val="C25700"/>
                </a:solidFill>
                <a:latin typeface="PingFang SC"/>
              </a:rPr>
              <a:t>Replication  </a:t>
            </a:r>
            <a:r>
              <a:rPr sz="1000">
                <a:solidFill>
                  <a:srgbClr val="555555"/>
                </a:solidFill>
                <a:latin typeface="Menlo" panose="020B0609030804020204"/>
              </a:rPr>
              <a:t>(run_033 ~ run_041)</a:t>
            </a:r>
            <a:endParaRPr sz="1000">
              <a:solidFill>
                <a:srgbClr val="555555"/>
              </a:solidFill>
              <a:latin typeface="Menlo" panose="020B0609030804020204"/>
            </a:endParaRPr>
          </a:p>
          <a:p>
            <a:r>
              <a:rPr sz="1100">
                <a:solidFill>
                  <a:srgbClr val="222222"/>
                </a:solidFill>
                <a:latin typeface="PingFang SC"/>
              </a:rPr>
              <a:t>9 条同协议复现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75120" y="3794760"/>
            <a:ext cx="4846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l"/>
            <a:r>
              <a:rPr sz="1200" b="1">
                <a:solidFill>
                  <a:srgbClr val="C25700"/>
                </a:solidFill>
                <a:latin typeface="PingFang SC"/>
              </a:rPr>
              <a:t>Bug-repair  </a:t>
            </a:r>
            <a:r>
              <a:rPr sz="1000">
                <a:solidFill>
                  <a:srgbClr val="555555"/>
                </a:solidFill>
                <a:latin typeface="Menlo" panose="020B0609030804020204"/>
              </a:rPr>
              <a:t>(run_043 ~ run_051)</a:t>
            </a:r>
            <a:endParaRPr sz="1000">
              <a:solidFill>
                <a:srgbClr val="555555"/>
              </a:solidFill>
              <a:latin typeface="Menlo" panose="020B0609030804020204"/>
            </a:endParaRPr>
          </a:p>
          <a:p>
            <a:r>
              <a:rPr sz="1100">
                <a:solidFill>
                  <a:srgbClr val="222222"/>
                </a:solidFill>
                <a:latin typeface="PingFang SC"/>
              </a:rPr>
              <a:t>9 条 (3 bug × 3 mode)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75120" y="4617720"/>
            <a:ext cx="4846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l"/>
            <a:r>
              <a:rPr sz="1200" b="1">
                <a:solidFill>
                  <a:srgbClr val="C25700"/>
                </a:solidFill>
                <a:latin typeface="PingFang SC"/>
              </a:rPr>
              <a:t>Expanded scope  </a:t>
            </a:r>
            <a:r>
              <a:rPr sz="1000">
                <a:solidFill>
                  <a:srgbClr val="555555"/>
                </a:solidFill>
                <a:latin typeface="Menlo" panose="020B0609030804020204"/>
              </a:rPr>
              <a:t>(run_052 ~ run_054)</a:t>
            </a:r>
            <a:endParaRPr sz="1000">
              <a:solidFill>
                <a:srgbClr val="555555"/>
              </a:solidFill>
              <a:latin typeface="Menlo" panose="020B0609030804020204"/>
            </a:endParaRPr>
          </a:p>
          <a:p>
            <a:r>
              <a:rPr sz="1100">
                <a:solidFill>
                  <a:srgbClr val="222222"/>
                </a:solidFill>
                <a:latin typeface="PingFang SC"/>
              </a:rPr>
              <a:t>4 图 × 4 污染 = 48 case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75120" y="5440680"/>
            <a:ext cx="4846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l"/>
            <a:r>
              <a:rPr sz="1200" b="1">
                <a:solidFill>
                  <a:srgbClr val="C25700"/>
                </a:solidFill>
                <a:latin typeface="PingFang SC"/>
              </a:rPr>
              <a:t>Fresh generation  </a:t>
            </a:r>
            <a:r>
              <a:rPr sz="1000">
                <a:solidFill>
                  <a:srgbClr val="555555"/>
                </a:solidFill>
                <a:latin typeface="Menlo" panose="020B0609030804020204"/>
              </a:rPr>
              <a:t>(run_055 ~ run_057)</a:t>
            </a:r>
            <a:endParaRPr sz="1000">
              <a:solidFill>
                <a:srgbClr val="555555"/>
              </a:solidFill>
              <a:latin typeface="Menlo" panose="020B0609030804020204"/>
            </a:endParaRPr>
          </a:p>
          <a:p>
            <a:r>
              <a:rPr sz="1100">
                <a:solidFill>
                  <a:srgbClr val="222222"/>
                </a:solidFill>
                <a:latin typeface="PingFang SC"/>
              </a:rPr>
              <a:t>重新生成而非复用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15  A2 关键边界 · 必须主动讲清楚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16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11155680" cy="91440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25700"/>
                </a:solidFill>
                <a:latin typeface="PingFang SC"/>
              </a:rPr>
              <a:t>A2 固定协议下, 三组提示的 PSNR / SSIM / RSE 在 60 个 run 上完全相同。</a:t>
            </a:r>
            <a:endParaRPr sz="1600" b="1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C25700"/>
                </a:solidFill>
                <a:latin typeface="PingFang SC"/>
              </a:rPr>
              <a:t>→ 不能写成『结构化指导显著抬高最终图像质量』。</a:t>
            </a:r>
            <a:endParaRPr sz="16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PingFang SC"/>
              </a:rPr>
              <a:t>为什么会这样？</a:t>
            </a:r>
            <a:endParaRPr sz="15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222222"/>
                </a:solidFill>
                <a:latin typeface="PingFang SC"/>
              </a:rPr>
              <a:t>•  RSLT inpainting 在固定 mask + 固定参数下，</a:t>
            </a:r>
            <a:endParaRPr sz="13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222222"/>
                </a:solidFill>
                <a:latin typeface="PingFang SC"/>
              </a:rPr>
              <a:t>•      本身是一个数值上接近确定性的算法</a:t>
            </a:r>
            <a:endParaRPr sz="13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222222"/>
                </a:solidFill>
                <a:latin typeface="PingFang SC"/>
              </a:rPr>
              <a:t>•  三组提示只改了『怎么写』，没改算法或参数</a:t>
            </a:r>
            <a:endParaRPr sz="13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222222"/>
                </a:solidFill>
                <a:latin typeface="PingFang SC"/>
              </a:rPr>
              <a:t>•  所以一旦能跑通且 mask 处理正确，</a:t>
            </a:r>
            <a:endParaRPr sz="13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222222"/>
                </a:solidFill>
                <a:latin typeface="PingFang SC"/>
              </a:rPr>
              <a:t>•      最终输出像素几乎一致</a:t>
            </a:r>
            <a:endParaRPr sz="13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2423160"/>
            <a:ext cx="5303520" cy="3474720"/>
          </a:xfrm>
          <a:prstGeom prst="roundRect">
            <a:avLst>
              <a:gd name="adj" fmla="val 6000"/>
            </a:avLst>
          </a:prstGeom>
          <a:solidFill>
            <a:srgbClr val="E6F4E0"/>
          </a:solidFill>
          <a:ln w="9525">
            <a:solidFill>
              <a:srgbClr val="4A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6B35"/>
                </a:solidFill>
                <a:latin typeface="PingFang SC"/>
              </a:rPr>
              <a:t>→ 但它依然支持的结论</a:t>
            </a:r>
            <a:endParaRPr sz="14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297180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三组提示下『结果一致』本身就是稳健性证据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扩展到 48 个 case 仍然只出现 1 组指标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fresh-generation 重新生成也回到同一结果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差异落在『过程』：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plain / coe 在 mask 约束等不变量上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更稳定地写出显式自检和回归说明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155680" cy="777240"/>
          </a:xfrm>
          <a:prstGeom prst="roundRect">
            <a:avLst>
              <a:gd name="adj" fmla="val 15000"/>
            </a:avLst>
          </a:prstGeom>
          <a:solidFill>
            <a:srgbClr val="E9EFF7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3A5F"/>
                </a:solidFill>
                <a:latin typeface="PingFang SC"/>
              </a:rPr>
              <a:t>我会主动告诉老师这个边界——把『过程质量提升』和『最终指标提升』分开讲, </a:t>
            </a:r>
            <a:endParaRPr sz="1200" b="0">
              <a:solidFill>
                <a:srgbClr val="1F3A5F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3A5F"/>
                </a:solidFill>
                <a:latin typeface="PingFang SC"/>
              </a:rPr>
              <a:t>不让结论说过头, 才能让后面的 pilot 数据真的有意义。</a:t>
            </a:r>
            <a:endParaRPr sz="1200" b="0">
              <a:solidFill>
                <a:srgbClr val="1F3A5F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16  纠错评估 · A1 + A2 bug-repair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17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18 条 failure-case 修复记录, 全部经过 diagnosis + patch + regression 流程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6 个 curated failure cases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5669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08960"/>
              </a:tblGrid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case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核心症状</a:t>
                      </a:r>
                      <a:endParaRPr sz="12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A1.bug_01 dp_boundary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DP 列边界 j-1/j+1 越界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A1.bug_02 no_energy_recompute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删 seam 后未重算 energy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A1.bug_03 height_transpose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高度方向转置复用错误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A2.bug_01 missing_mask_constraint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未把 observed 像素强制回填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A2.bug_02 mask_polarity_inverted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mask 1/0 极性反了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A2.bug_03 sparse_component_written_back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把 S 而非 L 写回图像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55448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结果总结 · 18 条 bug-repair runs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diagnosis_correct = 18 / 18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patch_runnable = 18 / 18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regression_pass = 18 / 18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fix_rounds 均值 = 0.00 (无返工)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A1: 修复时间 0.57 ~ 1.03 min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A2: 修复时间 0.10 min (script-assisted)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92240" y="5257800"/>
            <a:ext cx="5212080" cy="118872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25700"/>
                </a:solidFill>
                <a:latin typeface="PingFang SC"/>
              </a:rPr>
              <a:t>边界：这些记录证明流程和表单可用, </a:t>
            </a:r>
            <a:endParaRPr sz="11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25700"/>
                </a:solidFill>
                <a:latin typeface="PingFang SC"/>
              </a:rPr>
              <a:t>但样本量不足以推到大样本稳健性。</a:t>
            </a:r>
            <a:endParaRPr sz="11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25700"/>
                </a:solidFill>
                <a:latin typeface="PingFang SC"/>
              </a:rPr>
              <a:t>→ 这正是 S01-S04 预试验要补的部分。</a:t>
            </a:r>
            <a:endParaRPr sz="1100" b="0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17  Prompt 模板对照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18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PingFang SC"/>
              </a:rPr>
              <a:t>三种条件共享同一题目和评测协议, 差别只在 prompt 的『结构化程度』</a:t>
            </a:r>
            <a:endParaRPr sz="13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direct_answer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703320" cy="3520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91440" rIns="137160" bIns="91440" rtlCol="0" anchor="ctr"/>
          <a:lstStyle/>
          <a:p>
            <a:pPr algn="l"/>
            <a:r>
              <a:rPr sz="900" i="1">
                <a:solidFill>
                  <a:srgbClr val="8699C4"/>
                </a:solidFill>
                <a:latin typeface="Menlo" panose="020B0609030804020204"/>
              </a:rPr>
              <a:t># prompt</a:t>
            </a:r>
            <a:endParaRPr sz="900" i="1">
              <a:solidFill>
                <a:srgbClr val="8699C4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# A1 baseline · direct_answer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1. 给出题目要求与主接口 seam_carve_image(im, sz)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2. 给出 shrink-only 约束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3. 直接要求模型给出完整代码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→ 不给 task card, 不给检查清单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→ 观察基线稳定性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70832" y="150876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C25700"/>
                </a:solidFill>
                <a:latin typeface="PingFang SC"/>
              </a:rPr>
              <a:t>plain_guidance</a:t>
            </a:r>
            <a:endParaRPr sz="14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703320" cy="3520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91440" rIns="137160" bIns="91440" rtlCol="0" anchor="ctr"/>
          <a:lstStyle/>
          <a:p>
            <a:pPr algn="l"/>
            <a:r>
              <a:rPr sz="900" i="1">
                <a:solidFill>
                  <a:srgbClr val="8699C4"/>
                </a:solidFill>
                <a:latin typeface="Menlo" panose="020B0609030804020204"/>
              </a:rPr>
              <a:t># prompt</a:t>
            </a:r>
            <a:endParaRPr sz="900" i="1">
              <a:solidFill>
                <a:srgbClr val="8699C4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# A1 baseline · plain_guidance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材料：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- 题目要求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- task_cards/A1_seam_carving_taskcard_v1.md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- shrink-only 约束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- 评测协议 a1_eval_protocol_v0.md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→ 提示模型按 task card 检查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→ 自检覆盖、根因解释更稳定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93024" y="150876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6B35"/>
                </a:solidFill>
                <a:latin typeface="PingFang SC"/>
              </a:rPr>
              <a:t>coe_guided</a:t>
            </a:r>
            <a:endParaRPr sz="14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93024" y="1920240"/>
            <a:ext cx="3703320" cy="3520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91440" rIns="137160" bIns="91440" rtlCol="0" anchor="ctr"/>
          <a:lstStyle/>
          <a:p>
            <a:pPr algn="l"/>
            <a:r>
              <a:rPr sz="900" i="1">
                <a:solidFill>
                  <a:srgbClr val="8699C4"/>
                </a:solidFill>
                <a:latin typeface="Menlo" panose="020B0609030804020204"/>
              </a:rPr>
              <a:t># prompt</a:t>
            </a:r>
            <a:endParaRPr sz="900" i="1">
              <a:solidFill>
                <a:srgbClr val="8699C4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# A1 baseline · coe_multi_role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固定 5 个角色: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Role 1 Reader      题目重述/输入输出/验收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Role 2 Planner     算法步骤/拆分/边界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Role 3 Coder       代码骨架 + 自检 assert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Role 4 Reviewer    对照 5 类常见错误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 Role 5 Experimenter 固定测试图/对比/记录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00">
                <a:solidFill>
                  <a:srgbClr val="E6E6E6"/>
                </a:solidFill>
                <a:latin typeface="Menlo" panose="020B0609030804020204"/>
              </a:rPr>
              <a:t>→ 强制结构化, 痕迹完整</a:t>
            </a:r>
            <a:endParaRPr sz="1000">
              <a:solidFill>
                <a:srgbClr val="E6E6E6"/>
              </a:solidFill>
              <a:latin typeface="Menlo" panose="020B0609030804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11155680" cy="77724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5700"/>
                </a:solidFill>
                <a:latin typeface="PingFang SC"/>
              </a:rPr>
              <a:t>共 6 个 v1 模板（A1 / A2 × baseline / bug_repair × direct / plain / coe）, </a:t>
            </a:r>
            <a:endParaRPr sz="12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5700"/>
                </a:solidFill>
                <a:latin typeface="PingFang SC"/>
              </a:rPr>
              <a:t>每个模板都对应可复查的 prompt 文件、run 文档与 metrics 行。</a:t>
            </a:r>
            <a:endParaRPr sz="1200" b="0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18  CLI 原型 · advisor 演示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19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PingFang SC"/>
              </a:rPr>
              <a:t>用一个最小 CLI 把题目、task card、prompt、run 与 metrics 摘要按固定顺序串起来</a:t>
            </a:r>
            <a:endParaRPr sz="13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运行示意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6400800" cy="42976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91440" rIns="137160" bIns="91440" rtlCol="0" anchor="ctr"/>
          <a:lstStyle/>
          <a:p>
            <a:pPr algn="l"/>
            <a:r>
              <a:rPr sz="1000" i="1">
                <a:solidFill>
                  <a:srgbClr val="8699C4"/>
                </a:solidFill>
                <a:latin typeface="Menlo" panose="020B0609030804020204"/>
              </a:rPr>
              <a:t># bash</a:t>
            </a:r>
            <a:endParaRPr sz="1000" i="1">
              <a:solidFill>
                <a:srgbClr val="8699C4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$ python run_research_case.py --demo advisor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[1/5] 加载 A1 / A2 主案例题目要求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[2/5] 读取对应 task card 与评测协议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[3/5] 展示 direct / plain / coe 三类 prompt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[4/5] 拉取最近一次 run 文档摘要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[5/5] 输出 metrics CSV 行 + 阶段小结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✓ A1: 12 guidance + 18 perf + 9 repair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✓ A2: 15 guidance + 60 perf + 48 expanded + 9 repair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✓ 题库: 16 个正式条目 (A1/A2/A3/A4)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可用命令: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--list                              列出所有案例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--case A1 --mode plain_guidance --track baseline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E6E6E6"/>
                </a:solidFill>
                <a:latin typeface="Menlo" panose="020B0609030804020204"/>
              </a:rPr>
              <a:t>  --case A2 --mode coe_guided --track bug-repair</a:t>
            </a:r>
            <a:endParaRPr sz="1100">
              <a:solidFill>
                <a:srgbClr val="E6E6E6"/>
              </a:solidFill>
              <a:latin typeface="Menlo" panose="020B0609030804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78040" y="1508760"/>
            <a:ext cx="4526280" cy="475488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内部 dry-run · PILOT_20260420_000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210312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日期: 2026-04-20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任务: T2_A1_bug_01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条件: process_guided_workflow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参与者: SELF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首次可运行: 8 min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总时长: 17 min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help: 0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完整产出: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· participant_form_filled.md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· participant_notes_filled.md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· patched_code.py + verify_patch.py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· session_record_filled.md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· scoring_sheet_filled.md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· pilot_session_log_dry_run_v0.csv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19  S01–S04 预试验计划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20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首轮 4 个 session, 任务包已冻结, 等待招募回填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1556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55"/>
                <a:gridCol w="2187388"/>
                <a:gridCol w="2734235"/>
                <a:gridCol w="1531171"/>
                <a:gridCol w="2187388"/>
                <a:gridCol w="1640541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slot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task_id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条件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participant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session_stage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 panose="02000503000000020004"/>
                        </a:rPr>
                        <a:t>状态</a:t>
                      </a:r>
                      <a:endParaRPr sz="1100" b="1">
                        <a:solidFill>
                          <a:srgbClr val="FFFFFF"/>
                        </a:solidFill>
                        <a:latin typeface="Helvetica Neue" panose="02000503000000020004"/>
                      </a:endParaRP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DRY-01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T2_A1_bug_01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process_guided_workflow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SELF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internal_dry_run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✓ 已完成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T2_A1_bug_01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baseline_workflow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formal_pilot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待招募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S02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T2_A1_bug_01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process_guided_workflow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P02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formal_pilot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待招募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S03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T3_A2_bug_01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baseline_workflow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P03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formal_pilot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待招募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ECEFF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S04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T3_A2_bug_01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process_guided_workflow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P04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formal_pilot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PingFang SC"/>
                        </a:rPr>
                        <a:t>待招募</a:t>
                      </a:r>
                      <a:endParaRPr sz="1000">
                        <a:solidFill>
                          <a:srgbClr val="222222"/>
                        </a:solidFill>
                        <a:latin typeface="PingFang SC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单 session 时间预算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5 min · 填写 participant form 基本信息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3 min · 发放任务包并说明条件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20-30 min · 完成修补任务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5 min · 填写试用后主观评价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5 min · 研究者补 session record + 评分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首轮完成标准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46177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C25700"/>
                </a:solidFill>
                <a:latin typeface="PingFang SC"/>
              </a:rPr>
              <a:t>•  S01–S04 全部完成</a:t>
            </a:r>
            <a:endParaRPr sz="120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C25700"/>
                </a:solidFill>
                <a:latin typeface="PingFang SC"/>
              </a:rPr>
              <a:t>•  每个 session 有 form / record / scoring sheet</a:t>
            </a:r>
            <a:endParaRPr sz="120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C25700"/>
                </a:solidFill>
                <a:latin typeface="PingFang SC"/>
              </a:rPr>
              <a:t>•  CSV ≥ 4 行 formal_pilot 记录</a:t>
            </a:r>
            <a:endParaRPr sz="120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C25700"/>
                </a:solidFill>
                <a:latin typeface="PingFang SC"/>
              </a:rPr>
              <a:t>•  如仍发现字段缺口 → 先改模板再开第二轮</a:t>
            </a:r>
            <a:endParaRPr sz="1200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20  研究目的（精炼版）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21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11155680" cy="128016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PingFang SC"/>
              </a:rPr>
              <a:t>用一句话讲——</a:t>
            </a:r>
            <a:endParaRPr sz="13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把大模型在数学建模 / 数值计算这类有编程的理工课程里, </a:t>
            </a:r>
            <a:endParaRPr sz="1600" b="1">
              <a:solidFill>
                <a:srgbClr val="1F3A5F"/>
              </a:solidFill>
              <a:latin typeface="PingFang SC"/>
            </a:endParaRP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3A5F"/>
                </a:solidFill>
                <a:latin typeface="PingFang SC"/>
              </a:rPr>
              <a:t>从『给学生一个答案』变成『留下一条可检查、可复现、可评分的过程证据链』。</a:t>
            </a:r>
            <a:endParaRPr sz="16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为什么必须这么做——3 个事实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7033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3703320" cy="640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731520" cy="365760"/>
          </a:xfrm>
          <a:prstGeom prst="roundRect">
            <a:avLst>
              <a:gd name="adj" fmla="val 4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现实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22222"/>
                </a:solidFill>
                <a:latin typeface="PingFang SC"/>
              </a:rPr>
              <a:t>学生已经在大量使用 LLM 写课程代码</a:t>
            </a:r>
            <a:endParaRPr sz="13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这不是『要不要禁』的问题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而是『用了之后怎么评、怎么教』的问题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回避它 = 评分变成『代码能跑就给分』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0832" y="2926080"/>
            <a:ext cx="37033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70832" y="2926080"/>
            <a:ext cx="3703320" cy="6400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53712" y="3108960"/>
            <a:ext cx="731520" cy="365760"/>
          </a:xfrm>
          <a:prstGeom prst="roundRect">
            <a:avLst>
              <a:gd name="adj" fmla="val 40000"/>
            </a:avLst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问题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3712" y="3566160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22222"/>
                </a:solidFill>
                <a:latin typeface="PingFang SC"/>
              </a:rPr>
              <a:t>直接看最终答案，分辨不出学生是否理解</a:t>
            </a:r>
            <a:endParaRPr sz="13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3712" y="438912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数值类作业的错误经常藏在：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mask 处理 / DP 边界 / 矩阵 shape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答案对 ≠ 学到了；答案错 ≠ 没学到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93024" y="2926080"/>
            <a:ext cx="37033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93024" y="2926080"/>
            <a:ext cx="3703320" cy="64008"/>
          </a:xfrm>
          <a:prstGeom prst="rect">
            <a:avLst/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75904" y="3108960"/>
            <a:ext cx="731520" cy="365760"/>
          </a:xfrm>
          <a:prstGeom prst="roundRect">
            <a:avLst>
              <a:gd name="adj" fmla="val 40000"/>
            </a:avLst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方法</a:t>
            </a:r>
            <a:endParaRPr sz="1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75904" y="3566160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22222"/>
                </a:solidFill>
                <a:latin typeface="PingFang SC"/>
              </a:rPr>
              <a:t>把整条生成过程强制落盘成可复查材料</a:t>
            </a:r>
            <a:endParaRPr sz="1300" b="1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75904" y="438912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题意重述 → 算法规划 → 代码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→ 自检 → 回归验证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在这套材料上谈评分、谈教学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5852160"/>
            <a:ext cx="11155680" cy="50292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5700"/>
                </a:solidFill>
                <a:latin typeface="PingFang SC"/>
              </a:rPr>
              <a:t>更克制的一句话：这是面向数理类编程教学的『过程化使用 LLM 方法学』, 不是 prompt engineering, 也不是 AI 教学效果实证研究。</a:t>
            </a:r>
            <a:endParaRPr sz="1200" b="0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21  成果如何使用 · 三层使用者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22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按『谁来用』分三层——越往下越接近教学落地。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155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926080" cy="1508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37160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① 研究方法资产</a:t>
            </a:r>
            <a:endParaRPr sz="1500" b="1">
              <a:solidFill>
                <a:srgbClr val="FFFFFF"/>
              </a:solidFill>
              <a:latin typeface="PingFang SC"/>
            </a:endParaRPr>
          </a:p>
          <a:p>
            <a:r>
              <a:rPr sz="1100">
                <a:solidFill>
                  <a:srgbClr val="E6E6EC"/>
                </a:solidFill>
                <a:latin typeface="PingFang SC"/>
              </a:rPr>
              <a:t>给研究本身复用</a:t>
            </a:r>
            <a:endParaRPr sz="1100">
              <a:solidFill>
                <a:srgbClr val="E6E6EC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7955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prompts/ · 6 个 v1 prompt 模板 (direct / plain / CoE × A1 / A2)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report/error_taxonomy_and_feedback_rules_v1.md · 7 类错误分类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report/structured_modeling_checklist_v1.md · 结构化检查清单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report/task_bank_index_v1.md · 16 条目题库索引 (三层)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11155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2926080" cy="150876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37160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② 课程作业可直接复用</a:t>
            </a:r>
            <a:endParaRPr sz="1500" b="1">
              <a:solidFill>
                <a:srgbClr val="FFFFFF"/>
              </a:solidFill>
              <a:latin typeface="PingFang SC"/>
            </a:endParaRPr>
          </a:p>
          <a:p>
            <a:r>
              <a:rPr sz="1100">
                <a:solidFill>
                  <a:srgbClr val="E6E6EC"/>
                </a:solidFill>
                <a:latin typeface="PingFang SC"/>
              </a:rPr>
              <a:t>给课程设计 / 助教</a:t>
            </a:r>
            <a:endParaRPr sz="1100">
              <a:solidFill>
                <a:srgbClr val="E6E6EC"/>
              </a:solidFill>
              <a:latin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7955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18 条 failure-case 记录 → 可改造成『找 bug + 修 bug』作业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bug-repair task card + scoring sheet → 助教按统一口径打分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A1 / A2 两个完整『过程化作业』示范 → 后续作业设计模板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评测协议 (a*_eval_protocol_v0.md) → 评分边界明确, 可复用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11155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2926080" cy="1508760"/>
          </a:xfrm>
          <a:prstGeom prst="rect">
            <a:avLst/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37160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③ 学生 / TA 可使用的工具</a:t>
            </a:r>
            <a:endParaRPr sz="1500" b="1">
              <a:solidFill>
                <a:srgbClr val="FFFFFF"/>
              </a:solidFill>
              <a:latin typeface="PingFang SC"/>
            </a:endParaRPr>
          </a:p>
          <a:p>
            <a:r>
              <a:rPr sz="1100">
                <a:solidFill>
                  <a:srgbClr val="E6E6EC"/>
                </a:solidFill>
                <a:latin typeface="PingFang SC"/>
              </a:rPr>
              <a:t>给真实试用现场</a:t>
            </a:r>
            <a:endParaRPr sz="1100">
              <a:solidFill>
                <a:srgbClr val="E6E6EC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4754880"/>
            <a:ext cx="7955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run_research_case.py --demo advisor · CLI 演示原型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pilot/formal_pilot_task_packs/ · S01–S04 现成任务包 (30-40 min)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pilot/ 模板 · participant form + session record + scoring sheet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dry-run 已跑通 → 表单字段、链路稳定性已验证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22  对 USTC 的具体好处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23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PingFang SC"/>
              </a:rPr>
              <a:t>贴 USTC 实际场景, 不写成通用 AI 教育研究的话术。</a:t>
            </a:r>
            <a:endParaRPr sz="13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5321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1828800"/>
            <a:ext cx="777240" cy="77724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 panose="02000503000000020004"/>
              </a:rPr>
              <a:t>01</a:t>
            </a:r>
            <a:endParaRPr sz="20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1645920"/>
            <a:ext cx="4251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A5F"/>
                </a:solidFill>
                <a:latin typeface="PingFang SC"/>
              </a:rPr>
              <a:t>对应 USTC 已经在发生的真实情况</a:t>
            </a:r>
            <a:endParaRPr sz="13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4251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数学建模 / 数值计算方法 / 信号与系统 / 图像处理——这些课作业本身是编程, </a:t>
            </a:r>
            <a:endParaRPr sz="10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且 USTC 学生 LLM 使用率高。当前矛盾是『放任 vs 禁止』, </a:t>
            </a:r>
            <a:endParaRPr sz="10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本课题给出第三条路：允许使用但保留过程证据。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55321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31520" y="3383280"/>
            <a:ext cx="777240" cy="777240"/>
          </a:xfrm>
          <a:prstGeom prst="ellipse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 panose="02000503000000020004"/>
              </a:rPr>
              <a:t>02</a:t>
            </a:r>
            <a:endParaRPr sz="20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3200400"/>
            <a:ext cx="4251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25700"/>
                </a:solidFill>
                <a:latin typeface="PingFang SC"/>
              </a:rPr>
              <a:t>提供『AI 时代作业怎么布置』的可参考样例</a:t>
            </a:r>
            <a:endParaRPr sz="13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3703320"/>
            <a:ext cx="4251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A1 Seam Carving、A2 RSLT inpainting 都是 USTC 真实课程作业方向 (hw1_op1、hw2_op2)。</a:t>
            </a:r>
            <a:endParaRPr sz="10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两个案例闭环回答了：作业该长什么样、要求学生交什么、怎么打分。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55321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31520" y="4937760"/>
            <a:ext cx="777240" cy="777240"/>
          </a:xfrm>
          <a:prstGeom prst="ellipse">
            <a:avLst/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 panose="02000503000000020004"/>
              </a:rPr>
              <a:t>03</a:t>
            </a:r>
            <a:endParaRPr sz="20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45920" y="4754880"/>
            <a:ext cx="4251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A6B35"/>
                </a:solidFill>
                <a:latin typeface="PingFang SC"/>
              </a:rPr>
              <a:t>Failure case 库可直接作为公开教学资源</a:t>
            </a:r>
            <a:endParaRPr sz="13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5257800"/>
            <a:ext cx="4251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6 个 curated bug 都是学生真实会犯的实现错误。</a:t>
            </a:r>
            <a:endParaRPr sz="10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在 LLM 时代,『读 bug + 修 bug』类作业比『从零写代码』更能考察理解。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2200" y="1508760"/>
            <a:ext cx="55321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55080" y="1828800"/>
            <a:ext cx="777240" cy="777240"/>
          </a:xfrm>
          <a:prstGeom prst="ellipse">
            <a:avLst/>
          </a:prstGeom>
          <a:solidFill>
            <a:srgbClr val="88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 panose="02000503000000020004"/>
              </a:rPr>
              <a:t>04</a:t>
            </a:r>
            <a:endParaRPr sz="20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9480" y="1645920"/>
            <a:ext cx="4251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83366"/>
                </a:solidFill>
                <a:latin typeface="PingFang SC"/>
              </a:rPr>
              <a:t>本身就是一个『诚实做研究』的大研样例</a:t>
            </a:r>
            <a:endParaRPr sz="1300" b="1">
              <a:solidFill>
                <a:srgbClr val="883366"/>
              </a:solidFill>
              <a:latin typeface="PingFang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69480" y="2148840"/>
            <a:ext cx="4251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五层证据 (baseline / replication / bug-repair / expanded-scope / fresh-gen) +</a:t>
            </a:r>
            <a:endParaRPr sz="10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主动暴露 A2 指标趋同 awkward finding + 可复现仓库 → 训练价值不亚于结论本身。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72200" y="3063240"/>
            <a:ext cx="55321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355080" y="3383280"/>
            <a:ext cx="777240" cy="777240"/>
          </a:xfrm>
          <a:prstGeom prst="ellipse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 panose="02000503000000020004"/>
              </a:rPr>
              <a:t>05</a:t>
            </a:r>
            <a:endParaRPr sz="20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69480" y="3200400"/>
            <a:ext cx="4251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36699"/>
                </a:solidFill>
                <a:latin typeface="PingFang SC"/>
              </a:rPr>
              <a:t>可衔接 USTC 内部更大范围教学评估</a:t>
            </a:r>
            <a:endParaRPr sz="1300" b="1">
              <a:solidFill>
                <a:srgbClr val="336699"/>
              </a:solidFill>
              <a:latin typeface="PingFang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69480" y="3703320"/>
            <a:ext cx="4251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S01–S04 之后, 自然延伸是和某门课的助教合作做真实学生试用。</a:t>
            </a:r>
            <a:endParaRPr sz="1000" b="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222222"/>
                </a:solidFill>
                <a:latin typeface="PingFang SC"/>
              </a:rPr>
              <a:t>USTC 数学建模实验班这种小班环境特别适合做对照试用。</a:t>
            </a:r>
            <a:endParaRPr sz="10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80"/>
            <a:ext cx="5394960" cy="182880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25700"/>
                </a:solidFill>
                <a:latin typeface="PingFang SC"/>
              </a:rPr>
              <a:t>△ 必须主动讲的边界</a:t>
            </a:r>
            <a:endParaRPr sz="11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25700"/>
                </a:solidFill>
                <a:latin typeface="PingFang SC"/>
              </a:rPr>
              <a:t>  · 4 人 pilot 未跑, 不能讲『对 USTC 学生有效』</a:t>
            </a:r>
            <a:endParaRPr sz="11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25700"/>
                </a:solidFill>
                <a:latin typeface="PingFang SC"/>
              </a:rPr>
              <a:t>  · 方法只在 A1 / A2 闭环, 跨课程迁移性开放</a:t>
            </a:r>
            <a:endParaRPr sz="1100" b="0">
              <a:solidFill>
                <a:srgbClr val="C25700"/>
              </a:solidFill>
              <a:latin typeface="PingFang SC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25700"/>
                </a:solidFill>
                <a:latin typeface="PingFang SC"/>
              </a:rPr>
              <a:t>  · A2 指标完全一致 → 价值在过程, 不在『AI 写得更准』</a:t>
            </a:r>
            <a:endParaRPr sz="1100" b="0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23  这套工作到底有没有实际意义?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24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55555"/>
                </a:solidFill>
                <a:latin typeface="PingFang SC"/>
              </a:rPr>
              <a:t>把这个问题直接回答给老师——分『可辩护』和『不可辩护』两栏。</a:t>
            </a:r>
            <a:endParaRPr sz="1400" b="0">
              <a:solidFill>
                <a:srgbClr val="555555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E6F4E0"/>
          </a:solidFill>
          <a:ln w="9525">
            <a:solidFill>
              <a:srgbClr val="4A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A6B35"/>
                </a:solidFill>
                <a:latin typeface="PingFang SC"/>
              </a:rPr>
              <a:t>✓ 可辩护的实际意义</a:t>
            </a:r>
            <a:endParaRPr sz="1500" b="1">
              <a:solidFill>
                <a:srgbClr val="4A6B35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1. 把模型生成『从一次回答』变成『可复查的证据链』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prompt → code → run → metrics 全部落盘可回溯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2. 把『过程是否说清楚』和『结果是否正确』分开评估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避免大模型『答案对但过程黑盒』掩盖学习问题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3. failure-case 库可以直接被教学复用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6 个 curated bug 已能稳定支撑诊断 + 修补 + 回归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4. Prompt 模板 + 检查清单 + 错误分类可迁移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不局限于 A1/A2, 后续 A3/A4 可同套流程接入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5. 已经为正式教学评估准备好采集链路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表单 + 评分表 + CSV + dry-run 验证过的模板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C25700"/>
                </a:solidFill>
                <a:latin typeface="PingFang SC"/>
              </a:rPr>
              <a:t>△ 现阶段还不能声称的</a:t>
            </a:r>
            <a:endParaRPr sz="15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1. 大样本教学效果尚未验证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目前最多 1 次 dry-run, 4 人 pilot 待跑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2. 不能说『结构化指导显著抬高最终指标』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A2 固定协议下三组指标完全一致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3. 当前结果对 A1/A2 之外任务的迁移性未知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A3/A4 只冻结了首发条目, 尚未进入实验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4. 学生主观评价、学习收益、长期记忆未测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需要正式 session 数据回填后再做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5. 三组提示之间的差异是否对教学真有用</a:t>
            </a:r>
            <a:endParaRPr sz="11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PingFang SC"/>
              </a:rPr>
              <a:t>•     还要看 pilot 中『过程痕迹』是否帮助学生学到东西</a:t>
            </a:r>
            <a:endParaRPr sz="11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6309360"/>
            <a:ext cx="11155680" cy="365760"/>
          </a:xfrm>
          <a:prstGeom prst="roundRect">
            <a:avLst>
              <a:gd name="adj" fmla="val 15000"/>
            </a:avLst>
          </a:prstGeom>
          <a:solidFill>
            <a:srgbClr val="E9EFF7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3A5F"/>
                </a:solidFill>
                <a:latin typeface="PingFang SC"/>
              </a:rPr>
              <a:t>中期阶段最稳的判断：方法链路、案例资产、评估材料已经就绪——下一步是用真实参与者去验证。</a:t>
            </a:r>
            <a:endParaRPr sz="1200" b="0">
              <a:solidFill>
                <a:srgbClr val="1F3A5F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24  风险、边界与诚实声明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25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11155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82880" cy="120700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R1 · 模板字段不够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首轮 pilot 中可能发现 form / scoring sheet 字段在真实参与者下不够清晰。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79" y="1234440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C25700"/>
                </a:solidFill>
                <a:latin typeface="PingFang SC"/>
              </a:rPr>
              <a:t>→ 先 4 人不扩大, 首轮结束后优先修模板。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212848"/>
            <a:ext cx="11155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212848"/>
            <a:ext cx="182880" cy="120700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R2 · A2 指标趋同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2715768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A2 固定协议下 3 组提示 PSNR/SSIM/RSE 完全一致, 无法用于『结果差异』叙事。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55279" y="2487168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C25700"/>
                </a:solidFill>
                <a:latin typeface="PingFang SC"/>
              </a:rPr>
              <a:t>→ 主动改用过程质量叙事, 不强行抬升数字。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465576"/>
            <a:ext cx="11155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3465576"/>
            <a:ext cx="182880" cy="120700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570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R3 · A3 / A4 迁移性未知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968496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首发条目已冻结但未进正式实验, 当前方法在新任务上的稳定性仍是开放问题。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79" y="3739896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C25700"/>
                </a:solidFill>
                <a:latin typeface="PingFang SC"/>
              </a:rPr>
              <a:t>→ 主案例稳定后再扩展, 不铺开未闭环题目。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718304"/>
            <a:ext cx="11155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48640" y="4718304"/>
            <a:ext cx="182880" cy="120700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09744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PingFang SC"/>
              </a:rPr>
              <a:t>R4 · 自我评估偏差</a:t>
            </a:r>
            <a:endParaRPr sz="14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4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22222"/>
                </a:solidFill>
                <a:latin typeface="PingFang SC"/>
              </a:rPr>
              <a:t>目前 18 条 bug-repair 都是研究者自评, 与陌生参与者可能有差距。</a:t>
            </a:r>
            <a:endParaRPr sz="1100" b="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55279" y="4992624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C25700"/>
                </a:solidFill>
                <a:latin typeface="PingFang SC"/>
              </a:rPr>
              <a:t>→ pilot 中刻意不暴露 diagnosis / fixed_code, 用陌生人复测。</a:t>
            </a:r>
            <a:endParaRPr sz="1100" b="1">
              <a:solidFill>
                <a:srgbClr val="C257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91440" rIns="457200" bIns="9144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 panose="02000503000000020004"/>
              </a:rPr>
              <a:t>25  结论与下一步</a:t>
            </a:r>
            <a:endParaRPr sz="2400" b="1">
              <a:solidFill>
                <a:srgbClr val="FFFFFF"/>
              </a:solidFill>
              <a:latin typeface="Helvetica Neue" panose="0200050300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0015" y="137160"/>
            <a:ext cx="18288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>
                <a:solidFill>
                  <a:srgbClr val="CCD6E6"/>
                </a:solidFill>
                <a:latin typeface="Helvetica Neue" panose="02000503000000020004"/>
              </a:rPr>
              <a:t>26 / 25</a:t>
            </a:r>
            <a:endParaRPr sz="1200">
              <a:solidFill>
                <a:srgbClr val="CCD6E6"/>
              </a:solidFill>
              <a:latin typeface="Helvetica Neue" panose="02000503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F3A5F"/>
                </a:solidFill>
                <a:latin typeface="PingFang SC"/>
              </a:rPr>
              <a:t>中期阶段一句话：主案例已闭环, 正式采集前的材料已经准备好。</a:t>
            </a:r>
            <a:endParaRPr sz="1800" b="1">
              <a:solidFill>
                <a:srgbClr val="1F3A5F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7033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已完成</a:t>
            </a:r>
            <a:endParaRPr sz="17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A1 / A2 主案例闭环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题库 16 条目 + 模板 v1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18 条 bug-repair 记录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CLI 原型 + 内部 dry-run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S01–S04 task pack 已冻结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3703320" cy="50292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当前结论</a:t>
            </a:r>
            <a:endParaRPr sz="17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3712" y="237744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可复查的证据链已成型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结构化指导的优势在过程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(自检 / 根因 / 回归说明)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在 A2 固定协议下,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最终指标不显著拉开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不做大样本教学效果断言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93024" y="169164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C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193024" y="1691640"/>
            <a:ext cx="3703320" cy="502920"/>
          </a:xfrm>
          <a:prstGeom prst="rect">
            <a:avLst/>
          </a:prstGeom>
          <a:solidFill>
            <a:srgbClr val="4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下一步</a:t>
            </a:r>
            <a:endParaRPr sz="17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75904" y="237744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1. 启动 S01–S04 四个 pilot session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2. 每个 session 结束即时回填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form / record / scoring / CSV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3. 根据首轮反馈修模板字段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4. 中期之后再推 A3/A4 协议</a:t>
            </a:r>
            <a:endParaRPr sz="1200">
              <a:solidFill>
                <a:srgbClr val="222222"/>
              </a:solidFill>
              <a:latin typeface="PingFang SC"/>
            </a:endParaRP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222222"/>
                </a:solidFill>
                <a:latin typeface="PingFang SC"/>
              </a:rPr>
              <a:t>•      + 学生试用扩样本</a:t>
            </a:r>
            <a:endParaRPr sz="1200">
              <a:solidFill>
                <a:srgbClr val="222222"/>
              </a:solidFill>
              <a:latin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6126480"/>
            <a:ext cx="11155680" cy="457200"/>
          </a:xfrm>
          <a:prstGeom prst="roundRect">
            <a:avLst>
              <a:gd name="adj" fmla="val 15000"/>
            </a:avLst>
          </a:prstGeom>
          <a:solidFill>
            <a:srgbClr val="E9EFF7"/>
          </a:solidFill>
          <a:ln w="1270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3A5F"/>
                </a:solidFill>
                <a:latin typeface="PingFang SC"/>
              </a:rPr>
              <a:t>汇报结束。感谢老师, 欢迎追问任何一页背后的具体证据（run 文档 / metrics / 代码 / prompt）。</a:t>
            </a:r>
            <a:endParaRPr sz="1200" b="0">
              <a:solidFill>
                <a:srgbClr val="1F3A5F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13806</Words>
  <Application>WPS 演示</Application>
  <PresentationFormat>On-screen Show (4:3)</PresentationFormat>
  <Paragraphs>1423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6" baseType="lpstr">
      <vt:lpstr>Arial</vt:lpstr>
      <vt:lpstr>宋体</vt:lpstr>
      <vt:lpstr>Wingdings</vt:lpstr>
      <vt:lpstr>Arial</vt:lpstr>
      <vt:lpstr>PingFang SC</vt:lpstr>
      <vt:lpstr>Thonburi</vt:lpstr>
      <vt:lpstr>Helvetica Neue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Menlo</vt:lpstr>
      <vt:lpstr>Menlo</vt:lpstr>
      <vt:lpstr>PingFang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云丹央宗</cp:lastModifiedBy>
  <cp:revision>3</cp:revision>
  <dcterms:created xsi:type="dcterms:W3CDTF">2026-05-27T14:14:05Z</dcterms:created>
  <dcterms:modified xsi:type="dcterms:W3CDTF">2026-05-27T14:14:05Z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963C16380E142CD592F7166A78391657_42</vt:lpwstr>
  </property>
</Properties>
</file>