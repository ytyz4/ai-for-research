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18" userDrawn="1">
          <ns3:clr>
            <a:srgbClr val="A4A3A4"/>
          </ns3:clr>
        </ns3:guide>
        <ns3:guide id="2" pos="2891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8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7.xml" /><Relationship Id="rId8" Type="http://schemas.openxmlformats.org/officeDocument/2006/relationships/slide" Target="slides/slide6.xml" /><Relationship Id="rId7" Type="http://schemas.openxmlformats.org/officeDocument/2006/relationships/slide" Target="slides/slide5.xml" /><Relationship Id="rId6" Type="http://schemas.openxmlformats.org/officeDocument/2006/relationships/slide" Target="slides/slide4.xml" /><Relationship Id="rId5" Type="http://schemas.openxmlformats.org/officeDocument/2006/relationships/slide" Target="slides/slide3.xml" /><Relationship Id="rId4" Type="http://schemas.openxmlformats.org/officeDocument/2006/relationships/slide" Target="slides/slide2.xml" /><Relationship Id="rId3" Type="http://schemas.openxmlformats.org/officeDocument/2006/relationships/slide" Target="slides/slide1.xml" /><Relationship Id="rId23" Type="http://schemas.openxmlformats.org/officeDocument/2006/relationships/tableStyles" Target="tableStyles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20" Type="http://schemas.openxmlformats.org/officeDocument/2006/relationships/handoutMaster" Target="handoutMasters/handoutMaster1.xml" /><Relationship Id="rId2" Type="http://schemas.openxmlformats.org/officeDocument/2006/relationships/theme" Target="theme/theme1.xml" /><Relationship Id="rId19" Type="http://schemas.openxmlformats.org/officeDocument/2006/relationships/notesMaster" Target="notesMasters/notesMaster1.xml" /><Relationship Id="rId17" Type="http://schemas.openxmlformats.org/officeDocument/2006/relationships/slide" Target="slides/slide15.xml" /><Relationship Id="rId16" Type="http://schemas.openxmlformats.org/officeDocument/2006/relationships/slide" Target="slides/slide14.xml" /><Relationship Id="rId15" Type="http://schemas.openxmlformats.org/officeDocument/2006/relationships/slide" Target="slides/slide13.xml" /><Relationship Id="rId14" Type="http://schemas.openxmlformats.org/officeDocument/2006/relationships/slide" Target="slides/slide12.xml" /><Relationship Id="rId13" Type="http://schemas.openxmlformats.org/officeDocument/2006/relationships/slide" Target="slides/slide11.xml" /><Relationship Id="rId12" Type="http://schemas.openxmlformats.org/officeDocument/2006/relationships/slide" Target="slides/slide10.xml" /><Relationship Id="rId11" Type="http://schemas.openxmlformats.org/officeDocument/2006/relationships/slide" Target="slides/slide9.xml" /><Relationship Id="rId10" Type="http://schemas.openxmlformats.org/officeDocument/2006/relationships/slide" Target="slides/slide8.xml" /><Relationship Id="rId1" Type="http://schemas.openxmlformats.org/officeDocument/2006/relationships/slideMaster" Target="slideMasters/slide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58495" y="991870"/>
            <a:ext cx="10607040" cy="5200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28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517142"/>
            <a:ext cx="21031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中期汇报</a:t>
            </a:r>
            <a:endParaRPr sz="24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029968"/>
            <a:ext cx="59436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过程化指导 · 结构化检查 · 纠错评估</a:t>
            </a:r>
            <a:endParaRPr sz="15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615184"/>
            <a:ext cx="10835640" cy="658368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汇报范围：</a:t>
            </a:r>
            <a:r>
              <a:rPr sz="123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+mn-ea"/>
              </a:rPr>
              <a:t>截至</a:t>
            </a:r>
            <a:r>
              <a:rPr sz="1230" u="sng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+mn-ea"/>
              </a:rPr>
              <a:t>内部演练</a:t>
            </a:r>
            <a:r>
              <a:rPr sz="123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+mn-ea"/>
              </a:rPr>
              <a:t>与</a:t>
            </a:r>
            <a:r>
              <a:rPr sz="1230" u="sng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+mn-ea"/>
              </a:rPr>
              <a:t>首轮小样本预试验材料</a:t>
            </a:r>
            <a:r>
              <a:rPr sz="123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+mn-ea"/>
              </a:rPr>
              <a:t>准备完成；正式受试者数据尚未采集。</a:t>
            </a:r>
            <a:endParaRPr sz="123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877056"/>
            <a:ext cx="3337560" cy="109728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当前阶段</a:t>
            </a:r>
            <a:endParaRPr sz="132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A1 / A2 主案例已跑通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中期材料和原型入口已收口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1688" y="3877056"/>
            <a:ext cx="3337560" cy="109728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汇报边界</a:t>
            </a:r>
            <a:endParaRPr sz="132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不虚填受试者结果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只讲已经留下证据的部分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65008" y="3877056"/>
            <a:ext cx="3337560" cy="109728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下一阶段</a:t>
            </a:r>
            <a:endParaRPr sz="132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启动 4 人小样本预试验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及时回填记录和评分表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4368" y="6565519"/>
            <a:ext cx="4754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中期汇报 · 云丹央宗 · PB23151791</a:t>
            </a:r>
            <a:endParaRPr sz="10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0" y="5998464"/>
            <a:ext cx="5486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01</a:t>
            </a:r>
            <a:endParaRPr sz="10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Rectangle 5"/>
          <p:cNvSpPr/>
          <p:nvPr/>
        </p:nvSpPr>
        <p:spPr>
          <a:xfrm>
            <a:off x="534670" y="991870"/>
            <a:ext cx="76200" cy="853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8437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阶段定位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从选题起步到预试验准备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02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02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1069848"/>
            <a:ext cx="11064240" cy="62179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本</a:t>
            </a:r>
            <a:r>
              <a:rPr sz="13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次汇报按实际推进顺序来讲</a:t>
            </a:r>
            <a:endParaRPr sz="13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怎么定方向、怎么把问题收窄成案例，以及目前哪些材料已经能作为证据。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1956816"/>
            <a:ext cx="3456432" cy="98755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76656" y="2103120"/>
            <a:ext cx="384048" cy="3474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70432" y="2084832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3月中旬</a:t>
            </a:r>
            <a:endParaRPr sz="105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70432" y="2340864"/>
            <a:ext cx="2606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确定方向</a:t>
            </a:r>
            <a:endParaRPr sz="124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432" y="2579751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从“大模型辅助建模”先收窄到可运行、可评分的一条教学流程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61688" y="1956816"/>
            <a:ext cx="3456432" cy="98755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4471416" y="2103120"/>
            <a:ext cx="384048" cy="3474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2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65192" y="2084832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3月下旬</a:t>
            </a:r>
            <a:endParaRPr sz="105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65192" y="2340864"/>
            <a:ext cx="2606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A1 起步</a:t>
            </a:r>
            <a:endParaRPr sz="124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65192" y="2579751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先用 Seam Carving 做第一个主案例，补齐 task card / run / metrics</a:t>
            </a:r>
            <a:endParaRPr sz="10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56448" y="1956816"/>
            <a:ext cx="3456432" cy="98755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8266175" y="2103120"/>
            <a:ext cx="384048" cy="3474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59952" y="2084832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4月上旬</a:t>
            </a:r>
            <a:endParaRPr sz="105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59952" y="2340864"/>
            <a:ext cx="2606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A2 收束</a:t>
            </a:r>
            <a:endParaRPr sz="124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59952" y="2579751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把低秩图像任务进一步收窄成灰度图像修复主案例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66928" y="3163824"/>
            <a:ext cx="3456432" cy="98755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676656" y="3310128"/>
            <a:ext cx="384048" cy="3474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70432" y="3291840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4月中旬</a:t>
            </a:r>
            <a:endParaRPr sz="105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70432" y="3547872"/>
            <a:ext cx="2606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对照实验</a:t>
            </a:r>
            <a:endParaRPr sz="124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70432" y="3803904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跑完 baseline、固定协议复现，并整理故障修复记录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361688" y="3163824"/>
            <a:ext cx="3456432" cy="98755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4471416" y="3310128"/>
            <a:ext cx="384048" cy="3474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5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65192" y="3291840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4月下旬</a:t>
            </a:r>
            <a:endParaRPr sz="105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65192" y="3547872"/>
            <a:ext cx="2606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方法封装</a:t>
            </a:r>
            <a:endParaRPr sz="124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65192" y="3803904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把提示词模板、检查清单、错误分类和 CLI 入口整理出来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156448" y="3163824"/>
            <a:ext cx="3456432" cy="98755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8266175" y="3310128"/>
            <a:ext cx="384048" cy="3474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6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59952" y="3291840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中期前</a:t>
            </a:r>
            <a:endParaRPr sz="105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759952" y="3547872"/>
            <a:ext cx="2606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预试验准备</a:t>
            </a:r>
            <a:endParaRPr sz="124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59952" y="3803904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完成内部演练和首轮小样本任务包，正式采集还没有开始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66928" y="4617720"/>
            <a:ext cx="5394960" cy="530352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目前为止：不是说项目已经全部做完，而是 A1 / A2 主案例已闭环，正式采集前的材料基本准备好。</a:t>
            </a:r>
            <a:endParaRPr sz="10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44768" y="4617720"/>
            <a:ext cx="5468112" cy="530352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证据范围：仓库、运行记录、指标表、题库页面、原型入口和预试验模板。</a:t>
            </a:r>
            <a:endParaRPr sz="10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问题起点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课题从什么问题开始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03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03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504" y="1143000"/>
            <a:ext cx="5257800" cy="1316736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最初观察</a:t>
            </a:r>
            <a:endParaRPr sz="117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大模型确实能很快写出代码或解题方案，但过程不好查；一出错，学生也不容易分清是题意、建模、接口还是实现问题。</a:t>
            </a:r>
            <a:endParaRPr sz="117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8192" y="1143000"/>
            <a:ext cx="5257800" cy="1316736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起步策略</a:t>
            </a:r>
            <a:endParaRPr sz="132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因此，</a:t>
            </a:r>
            <a:r>
              <a:rPr sz="11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我没有先比“回答看起来好不好”，而是先选能本地跑、能量化、还能设计固定错误的任务，把每次生成都落到文档、代码、输出和指标里。</a:t>
            </a:r>
            <a:endParaRPr sz="117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2999232"/>
            <a:ext cx="1938528" cy="950976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  题目要求</a:t>
            </a:r>
            <a:endParaRPr sz="12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先定清边界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15184" y="3337560"/>
            <a:ext cx="29260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A5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600" b="1" i="0">
              <a:solidFill>
                <a:srgbClr val="60A5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889504" y="2999232"/>
            <a:ext cx="1938528" cy="950976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2  结构化表示</a:t>
            </a:r>
            <a:endParaRPr sz="12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输入 / 输出 / 不变量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64608" y="3337560"/>
            <a:ext cx="29260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A5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600" b="1" i="0">
              <a:solidFill>
                <a:srgbClr val="60A5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38928" y="2999232"/>
            <a:ext cx="1938528" cy="950976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  提示条件</a:t>
            </a:r>
            <a:endParaRPr sz="12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直接答 / 普通指导 / 过程化指导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14032" y="3337560"/>
            <a:ext cx="29260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A5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600" b="1" i="0">
              <a:solidFill>
                <a:srgbClr val="60A5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88352" y="2999232"/>
            <a:ext cx="1938528" cy="950976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  代码与输出</a:t>
            </a:r>
            <a:endParaRPr sz="12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能运行的产物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63456" y="3337560"/>
            <a:ext cx="292608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A5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600" b="1" i="0">
              <a:solidFill>
                <a:srgbClr val="60A5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637776" y="2999232"/>
            <a:ext cx="1938528" cy="950976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5  指标回填</a:t>
            </a:r>
            <a:endParaRPr sz="12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留下评分证据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05840" y="4590288"/>
            <a:ext cx="10104120" cy="768096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所以这个课题不是让模型直接给答案，而是把它的生成过程变成可以检查、可以复现、也可以评分的教学材料。</a:t>
            </a:r>
            <a:endParaRPr sz="13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研究目标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研究思路与核心问题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04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04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5216" y="1078992"/>
            <a:ext cx="11018520" cy="603504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目标：做一套“过程化指导 + 结构化检查 + 纠错评估”的教学辅助流程，让大模型产物不是只看答案，而是能被复查、复现，也能进评分表。</a:t>
            </a:r>
            <a:endParaRPr sz="12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85216" y="1965960"/>
            <a:ext cx="3456432" cy="91440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问题一：过程质量</a:t>
            </a:r>
            <a:endParaRPr sz="14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结构化指导能不能让题目边界、约束和自检项说得更清楚？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9976" y="1965960"/>
            <a:ext cx="3456432" cy="91440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问题二：纠错质量</a:t>
            </a:r>
            <a:endParaRPr sz="14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碰到固定错误时，能不能说清根因、给出最小修改，并做回归验证？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74736" y="1965960"/>
            <a:ext cx="3456432" cy="91440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问题三：研究资产</a:t>
            </a:r>
            <a:endParaRPr sz="14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这些案例能不能整理成题库、模板、原型入口和小样本试用材料？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5216" y="3383280"/>
            <a:ext cx="2560320" cy="105156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结果类</a:t>
            </a:r>
            <a:endParaRPr sz="128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能否运行 / 是否正确</a:t>
            </a:r>
            <a:endParaRPr sz="113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PSNR / SSIM / RSE</a:t>
            </a:r>
            <a:endParaRPr sz="113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19856" y="3383280"/>
            <a:ext cx="2560320" cy="105156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过程类</a:t>
            </a:r>
            <a:endParaRPr sz="14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自检覆盖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范围 / 不变量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54496" y="3383280"/>
            <a:ext cx="2560320" cy="105156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纠错类</a:t>
            </a:r>
            <a:endParaRPr sz="14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根因 / 补丁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回归验证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89136" y="3383280"/>
            <a:ext cx="2560320" cy="105156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BF24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产物类</a:t>
            </a:r>
            <a:endParaRPr sz="1400" b="1" i="0">
              <a:solidFill>
                <a:srgbClr val="FBBF24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提示词 / 记录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指标 / 输出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85216" y="5074920"/>
            <a:ext cx="11018520" cy="475488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目前比较有把握说的是：过程更清楚、材料更可复查；还不能说已经证明了大样本教学效果。</a:t>
            </a:r>
            <a:endParaRPr sz="116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研究路线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从案例一路落到证据链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05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05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502920" y="1234440"/>
            <a:ext cx="2057400" cy="658368"/>
          </a:xfrm>
          <a:prstGeom prst="chevron">
            <a:avLst/>
          </a:prstGeom>
          <a:solidFill>
            <a:srgbClr val="16233B"/>
          </a:solidFill>
          <a:ln w="1143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  </a:t>
            </a: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任务收束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" y="1947672"/>
            <a:ext cx="178308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从 Timeline 里的方向，先落到能执行的 A1 / A2 案例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2770632" y="1234440"/>
            <a:ext cx="2057400" cy="658368"/>
          </a:xfrm>
          <a:prstGeom prst="chevron">
            <a:avLst/>
          </a:prstGeom>
          <a:solidFill>
            <a:srgbClr val="16233B"/>
          </a:solidFill>
          <a:ln w="1143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2  </a:t>
            </a: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提示条件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71216" y="1947672"/>
            <a:ext cx="178308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三组提示条件保持一致，方便横向比较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5038344" y="1234440"/>
            <a:ext cx="2057400" cy="658368"/>
          </a:xfrm>
          <a:prstGeom prst="chevron">
            <a:avLst/>
          </a:prstGeom>
          <a:solidFill>
            <a:srgbClr val="16233B"/>
          </a:solidFill>
          <a:ln w="1143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  </a:t>
            </a: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生成执行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38928" y="1947672"/>
            <a:ext cx="178308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生成代码、图像、阶段小结和运行记录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7306055" y="1234440"/>
            <a:ext cx="2057400" cy="658368"/>
          </a:xfrm>
          <a:prstGeom prst="chevron">
            <a:avLst/>
          </a:prstGeom>
          <a:solidFill>
            <a:srgbClr val="16233B"/>
          </a:solidFill>
          <a:ln w="1143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  </a:t>
            </a: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结构化检查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0" y="1947672"/>
            <a:ext cx="178308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检查接口、不变量、协议和常见失败模式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9573768" y="1234440"/>
            <a:ext cx="2057400" cy="658368"/>
          </a:xfrm>
          <a:prstGeom prst="chevron">
            <a:avLst/>
          </a:prstGeom>
          <a:solidFill>
            <a:srgbClr val="16233B"/>
          </a:solidFill>
          <a:ln w="1143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5  </a:t>
            </a:r>
            <a:r>
              <a:rPr sz="115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评估回填</a:t>
            </a:r>
            <a:endParaRPr sz="115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74352" y="1947672"/>
            <a:ext cx="178308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把结果回填到指标表和试用表单</a:t>
            </a:r>
            <a:endParaRPr sz="10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3504" y="2852928"/>
            <a:ext cx="5394960" cy="100584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核心约束</a:t>
            </a:r>
            <a:endParaRPr sz="13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每个结论都要能回到提示词、代码/输出、运行记录和指标表，尽量避免只凭印象说“好像有效”。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72784" y="2852928"/>
            <a:ext cx="5394960" cy="100584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阶段落点</a:t>
            </a:r>
            <a:endParaRPr sz="13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45720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正式受试者采集前，先把内部演练、模板修补和首轮 4 人预试验材料准备好。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3504" y="4663440"/>
            <a:ext cx="11064240" cy="603504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证据链：题目 / Task Card  →  提示条件  →  代码与输出  →  运行记录  →  指标表  →  阶段小结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案例选择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案例如何选取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06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06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2029968" cy="84124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可运行</a:t>
            </a:r>
            <a:endParaRPr sz="12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本地环境可复现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主接口清晰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43784" y="1051560"/>
            <a:ext cx="2029968" cy="84124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可评分</a:t>
            </a:r>
            <a:endParaRPr sz="12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有正确性或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数值指标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84648" y="1051560"/>
            <a:ext cx="2029968" cy="84124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可构错</a:t>
            </a:r>
            <a:endParaRPr sz="12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能设计固定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故障案例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525512" y="1051560"/>
            <a:ext cx="2029968" cy="84124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可比较</a:t>
            </a:r>
            <a:endParaRPr sz="1200" b="1" i="0">
              <a:solidFill>
                <a:srgbClr val="FBBF24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三组提示条件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共享协议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866376" y="1051560"/>
            <a:ext cx="2029968" cy="84124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B7185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可试用</a:t>
            </a:r>
            <a:endParaRPr sz="1200" b="1" i="0">
              <a:solidFill>
                <a:srgbClr val="FB7185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适合 20-30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分钟试用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240280"/>
          <a:ext cx="11201398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96"/>
                <a:gridCol w="4023803"/>
                <a:gridCol w="3643173"/>
                <a:gridCol w="1957526"/>
              </a:tblGrid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案例</a:t>
                      </a:r>
                      <a:endParaRPr sz="108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任务特征</a:t>
                      </a:r>
                      <a:endParaRPr sz="108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验证问题</a:t>
                      </a:r>
                      <a:endParaRPr sz="108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当前状态</a:t>
                      </a:r>
                      <a:endParaRPr sz="108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A1 Seam Carving</a:t>
                      </a:r>
                      <a:endParaRPr sz="104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动态规划边界、尺寸约束、图像输出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过程化解释与代码纠错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主案例闭环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A2 低秩图像修复</a:t>
                      </a:r>
                      <a:endParaRPr sz="104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mask 不变量、数值指标、协议稳定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固定协议对照与指标回填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主案例闭环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A3 曲线拟合</a:t>
                      </a:r>
                      <a:endParaRPr sz="104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参数估计、模型选择、误差解释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题库扩展与迁移验证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首发条目冻结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A4 Poisson 融合</a:t>
                      </a:r>
                      <a:endParaRPr sz="104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边界条件、线性系统、图像融合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后续扩展验证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4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首发条目冻结</a:t>
                      </a:r>
                      <a:endParaRPr sz="104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5321808"/>
            <a:ext cx="11201400" cy="777240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答辩口径：只把 A1 / A2 作为主案例，是因为它们同时满足可运行、可评分、可构错和可比较；不是题目越多越好。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A3 / A4 先作为扩展入口，主结论仍依赖 A1 / A2 的闭环证据链。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案例资产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题库与材料状态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07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07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051560"/>
            <a:ext cx="2029968" cy="8046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16</a:t>
            </a:r>
            <a:endParaRPr sz="22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中期正式条目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43784" y="1051560"/>
            <a:ext cx="2029968" cy="8046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2</a:t>
            </a:r>
            <a:endParaRPr sz="22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已闭环主案例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84648" y="1051560"/>
            <a:ext cx="2029968" cy="8046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18</a:t>
            </a:r>
            <a:endParaRPr sz="22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故障修复记录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525512" y="1051560"/>
            <a:ext cx="2029968" cy="8046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BF24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2</a:t>
            </a:r>
            <a:endParaRPr sz="2200" b="1" i="0">
              <a:solidFill>
                <a:srgbClr val="FBBF24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扩展首发条目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866376" y="1051560"/>
            <a:ext cx="2029968" cy="80467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7185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</a:t>
            </a:r>
            <a:endParaRPr sz="2200" b="1" i="0">
              <a:solidFill>
                <a:srgbClr val="FB7185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预试验任务包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2240280"/>
          <a:ext cx="108630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334"/>
                <a:gridCol w="6644403"/>
                <a:gridCol w="2109334"/>
              </a:tblGrid>
              <a:tr h="502920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家族</a:t>
                      </a:r>
                      <a:endParaRPr sz="111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材料</a:t>
                      </a:r>
                      <a:endParaRPr sz="111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1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状态</a:t>
                      </a:r>
                      <a:endParaRPr sz="111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502920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A1 Seam Carving</a:t>
                      </a:r>
                      <a:endParaRPr sz="108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baseline / replication / bug-repair / metrics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已闭环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A2 低秩图像修复</a:t>
                      </a:r>
                      <a:endParaRPr sz="108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baseline / fixed protocol / bug-repair / expanded / fresh-generation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已闭环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A3 曲线拟合</a:t>
                      </a:r>
                      <a:endParaRPr sz="108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requirement + taskcard_v1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入口冻结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A4 Poisson image blending</a:t>
                      </a:r>
                      <a:endParaRPr sz="108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requirement + taskcard_v1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入口冻结</a:t>
                      </a:r>
                      <a:endParaRPr sz="108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58368" y="5193792"/>
            <a:ext cx="10863072" cy="502920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这里我想强调的是“主案例闭环、题库主干成型、小样本前准备完成”，不是单纯堆条目数量。</a:t>
            </a:r>
            <a:endParaRPr sz="11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方法框架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过程化指导如何组织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08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08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232" y="1143000"/>
            <a:ext cx="3246120" cy="146304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输入层</a:t>
            </a:r>
            <a:endParaRPr sz="132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题目要求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Task Card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固定协议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允许 / 不允许材料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62272" y="1143000"/>
            <a:ext cx="3246120" cy="146304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过程层</a:t>
            </a:r>
            <a:endParaRPr sz="132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读题解释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建模规划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编码实现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审查纠错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实验分析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11311" y="1143000"/>
            <a:ext cx="3246120" cy="146304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产物层</a:t>
            </a:r>
            <a:endParaRPr sz="14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代码与输出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运行记录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阶段小结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指标表行</a:t>
            </a:r>
            <a:endParaRPr sz="118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1"/>
            </p:custDataLst>
          </p:nvPr>
        </p:nvSpPr>
        <p:spPr>
          <a:xfrm>
            <a:off x="566928" y="3154680"/>
            <a:ext cx="3456432" cy="62179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ounded Rectangle 15"/>
          <p:cNvSpPr/>
          <p:nvPr>
            <p:custDataLst>
              <p:tags r:id="rId2"/>
            </p:custDataLst>
          </p:nvPr>
        </p:nvSpPr>
        <p:spPr>
          <a:xfrm>
            <a:off x="658368" y="3282696"/>
            <a:ext cx="329184" cy="329184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</a:t>
            </a:r>
            <a:endParaRPr sz="108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1038352" y="3364738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题目重述</a:t>
            </a:r>
            <a:endParaRPr sz="112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4"/>
            </p:custDataLst>
          </p:nvPr>
        </p:nvSpPr>
        <p:spPr>
          <a:xfrm>
            <a:off x="2178431" y="3392297"/>
            <a:ext cx="1463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先把题读清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5"/>
            </p:custDataLst>
          </p:nvPr>
        </p:nvSpPr>
        <p:spPr>
          <a:xfrm>
            <a:off x="4361688" y="3154680"/>
            <a:ext cx="3456432" cy="62179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ounded Rectangle 19"/>
          <p:cNvSpPr/>
          <p:nvPr>
            <p:custDataLst>
              <p:tags r:id="rId6"/>
            </p:custDataLst>
          </p:nvPr>
        </p:nvSpPr>
        <p:spPr>
          <a:xfrm>
            <a:off x="4453128" y="3282696"/>
            <a:ext cx="329184" cy="329184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2</a:t>
            </a:r>
            <a:endParaRPr sz="108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7"/>
            </p:custDataLst>
          </p:nvPr>
        </p:nvSpPr>
        <p:spPr>
          <a:xfrm>
            <a:off x="4873752" y="3364738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输入输出</a:t>
            </a:r>
            <a:endParaRPr sz="112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8"/>
            </p:custDataLst>
          </p:nvPr>
        </p:nvSpPr>
        <p:spPr>
          <a:xfrm>
            <a:off x="6045581" y="3364992"/>
            <a:ext cx="1463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接口先讲明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3" name="Rounded Rectangle 22"/>
          <p:cNvSpPr/>
          <p:nvPr>
            <p:custDataLst>
              <p:tags r:id="rId9"/>
            </p:custDataLst>
          </p:nvPr>
        </p:nvSpPr>
        <p:spPr>
          <a:xfrm>
            <a:off x="8156448" y="3154680"/>
            <a:ext cx="3456432" cy="62179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ounded Rectangle 23"/>
          <p:cNvSpPr/>
          <p:nvPr>
            <p:custDataLst>
              <p:tags r:id="rId10"/>
            </p:custDataLst>
          </p:nvPr>
        </p:nvSpPr>
        <p:spPr>
          <a:xfrm>
            <a:off x="8247888" y="3282696"/>
            <a:ext cx="329184" cy="329184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</a:t>
            </a:r>
            <a:endParaRPr sz="108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1"/>
            </p:custDataLst>
          </p:nvPr>
        </p:nvSpPr>
        <p:spPr>
          <a:xfrm>
            <a:off x="8709152" y="3364738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约束与不变量</a:t>
            </a:r>
            <a:endParaRPr sz="112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2"/>
            </p:custDataLst>
          </p:nvPr>
        </p:nvSpPr>
        <p:spPr>
          <a:xfrm>
            <a:off x="9912731" y="3346577"/>
            <a:ext cx="1463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关键约束不变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7" name="Rounded Rectangle 26"/>
          <p:cNvSpPr/>
          <p:nvPr>
            <p:custDataLst>
              <p:tags r:id="rId13"/>
            </p:custDataLst>
          </p:nvPr>
        </p:nvSpPr>
        <p:spPr>
          <a:xfrm>
            <a:off x="566928" y="3977640"/>
            <a:ext cx="3456432" cy="62179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ounded Rectangle 27"/>
          <p:cNvSpPr/>
          <p:nvPr>
            <p:custDataLst>
              <p:tags r:id="rId14"/>
            </p:custDataLst>
          </p:nvPr>
        </p:nvSpPr>
        <p:spPr>
          <a:xfrm>
            <a:off x="658368" y="4105656"/>
            <a:ext cx="329184" cy="329184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</a:t>
            </a:r>
            <a:endParaRPr sz="108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15"/>
            </p:custDataLst>
          </p:nvPr>
        </p:nvSpPr>
        <p:spPr>
          <a:xfrm>
            <a:off x="1078992" y="4187698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算法拆分</a:t>
            </a:r>
            <a:endParaRPr sz="112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16"/>
            </p:custDataLst>
          </p:nvPr>
        </p:nvSpPr>
        <p:spPr>
          <a:xfrm>
            <a:off x="2178431" y="4186047"/>
            <a:ext cx="1463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拆成可做步骤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1" name="Rounded Rectangle 30"/>
          <p:cNvSpPr/>
          <p:nvPr>
            <p:custDataLst>
              <p:tags r:id="rId17"/>
            </p:custDataLst>
          </p:nvPr>
        </p:nvSpPr>
        <p:spPr>
          <a:xfrm>
            <a:off x="4361688" y="3977640"/>
            <a:ext cx="3456432" cy="62179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Rounded Rectangle 31"/>
          <p:cNvSpPr/>
          <p:nvPr>
            <p:custDataLst>
              <p:tags r:id="rId18"/>
            </p:custDataLst>
          </p:nvPr>
        </p:nvSpPr>
        <p:spPr>
          <a:xfrm>
            <a:off x="4453128" y="4105656"/>
            <a:ext cx="329184" cy="329184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5</a:t>
            </a:r>
            <a:endParaRPr sz="108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19"/>
            </p:custDataLst>
          </p:nvPr>
        </p:nvSpPr>
        <p:spPr>
          <a:xfrm>
            <a:off x="4833112" y="4187698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自检点</a:t>
            </a:r>
            <a:endParaRPr sz="112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20"/>
            </p:custDataLst>
          </p:nvPr>
        </p:nvSpPr>
        <p:spPr>
          <a:xfrm>
            <a:off x="6045581" y="4186047"/>
            <a:ext cx="1463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提前看错点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5" name="Rounded Rectangle 34"/>
          <p:cNvSpPr/>
          <p:nvPr>
            <p:custDataLst>
              <p:tags r:id="rId21"/>
            </p:custDataLst>
          </p:nvPr>
        </p:nvSpPr>
        <p:spPr>
          <a:xfrm>
            <a:off x="8156448" y="3977640"/>
            <a:ext cx="3456432" cy="621792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Rounded Rectangle 35"/>
          <p:cNvSpPr/>
          <p:nvPr>
            <p:custDataLst>
              <p:tags r:id="rId22"/>
            </p:custDataLst>
          </p:nvPr>
        </p:nvSpPr>
        <p:spPr>
          <a:xfrm>
            <a:off x="8247888" y="4105656"/>
            <a:ext cx="329184" cy="329184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6</a:t>
            </a:r>
            <a:endParaRPr sz="108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23"/>
            </p:custDataLst>
          </p:nvPr>
        </p:nvSpPr>
        <p:spPr>
          <a:xfrm>
            <a:off x="8678037" y="4185793"/>
            <a:ext cx="123444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指标回填</a:t>
            </a:r>
            <a:endParaRPr sz="112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8" name="TextBox 37"/>
          <p:cNvSpPr txBox="1"/>
          <p:nvPr>
            <p:custDataLst>
              <p:tags r:id="rId24"/>
            </p:custDataLst>
          </p:nvPr>
        </p:nvSpPr>
        <p:spPr>
          <a:xfrm>
            <a:off x="9943211" y="4186047"/>
            <a:ext cx="14630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结果进表格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66928" y="5166360"/>
            <a:ext cx="11064240" cy="420624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这套框架不是为了让回答变长，而是把三件事固定下来：为什么这样做、检查了哪些约束、结果怎么回填。</a:t>
            </a:r>
            <a:endParaRPr sz="112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方法框架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结构化检查与错误反馈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09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09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1078992"/>
          <a:ext cx="11201398" cy="4005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397"/>
                <a:gridCol w="4342392"/>
                <a:gridCol w="5230609"/>
              </a:tblGrid>
              <a:tr h="572153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模块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检查重点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在当前案例中的体现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572153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通用检查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题意、输入输出、目标、约束、评估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A1/A2 的提示词、运行记录和检查清单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72153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A1 专项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只缩小、动态规划边界、shape 变化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seam_carve_image(im, sz) 的尺寸和连续性检查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72153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A2 专项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mask 语义、observed 不变、finite/range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rslt_inpainting(observed, mask) 的协议检查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72153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错误分类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范围、接口、不变量、算法、shape、材料完整性、解释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用于故障修复记录与评分反馈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72153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反馈顺序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先回收任务范围；再定位被破坏的不变量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最后给最小补丁与回归验证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572153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评分关注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材料完整性；能否运行 / 是否正确；自检与回归说明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结论边界：区分过程质量提升，不把小样本耗时写成强性能结论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86384" y="5413248"/>
            <a:ext cx="10661904" cy="438912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实际反馈时，我先把任务范围拉回来，再看哪个不变量被破坏，最后才给最小补丁和回归验证。</a:t>
            </a:r>
            <a:endParaRPr sz="11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实验设计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当前证据链与对照方式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10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10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060704"/>
          <a:ext cx="1110995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091"/>
                <a:gridCol w="3539456"/>
                <a:gridCol w="3834410"/>
                <a:gridCol w="2163001"/>
              </a:tblGrid>
              <a:tr h="42976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轨道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A1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A2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主要用途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42976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baseline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direct / plain / process-guided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direct / plain / process-guided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比较生成条件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2976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replication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固定协议复现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固定协议复现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稳定性检查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2976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bug-repair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 个故障修复记录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 个故障修复记录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纠错与回归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2976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expanded / fresh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暂不作为主线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expanded + fresh-generation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范围外稳定性补充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68680" y="3749039"/>
            <a:ext cx="1600200" cy="7132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prompt</a:t>
            </a:r>
            <a:endParaRPr sz="11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提示条件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32888" y="3977639"/>
            <a:ext cx="25603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50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81528" y="3749039"/>
            <a:ext cx="1600200" cy="7132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code / outputs</a:t>
            </a:r>
            <a:endParaRPr sz="11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生成材料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45736" y="3977639"/>
            <a:ext cx="25603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50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94376" y="3749039"/>
            <a:ext cx="1600200" cy="7132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run doc</a:t>
            </a:r>
            <a:endParaRPr sz="11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运行记录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58584" y="3977639"/>
            <a:ext cx="25603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50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07223" y="3749039"/>
            <a:ext cx="1600200" cy="7132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metrics</a:t>
            </a:r>
            <a:endParaRPr sz="1100" b="1" i="0">
              <a:solidFill>
                <a:srgbClr val="FBBF24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指标表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71432" y="3977639"/>
            <a:ext cx="256032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→</a:t>
            </a:r>
            <a:endParaRPr sz="1500" b="1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720072" y="3749039"/>
            <a:ext cx="1600200" cy="7132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summary</a:t>
            </a:r>
            <a:endParaRPr sz="1100" b="1" i="0">
              <a:solidFill>
                <a:srgbClr val="FB7185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阶段小结</a:t>
            </a:r>
            <a:endParaRPr sz="10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" y="5047488"/>
            <a:ext cx="10835640" cy="512064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A2 固定协议：lena / barbara × random_pixel@50% / text@50%；主要看 PSNR / SSIM / RSE / runtime。</a:t>
            </a:r>
            <a:endParaRPr sz="11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阶段结果 A1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Seam Carving：自检说得更完整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11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11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1051560"/>
            <a:ext cx="2423160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12</a:t>
            </a:r>
            <a:endParaRPr sz="24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指导记录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47287" y="1051560"/>
            <a:ext cx="2423160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18</a:t>
            </a:r>
            <a:endParaRPr sz="24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性能记录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36207" y="1051560"/>
            <a:ext cx="2423160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9</a:t>
            </a:r>
            <a:endParaRPr sz="24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故障修复记录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25128" y="1051560"/>
            <a:ext cx="2423160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BBF24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100%</a:t>
            </a:r>
            <a:endParaRPr sz="2400" b="1" i="0">
              <a:solidFill>
                <a:srgbClr val="FBBF24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能运行 / 正确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8368" y="2176272"/>
          <a:ext cx="1086307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6655"/>
                <a:gridCol w="1075551"/>
                <a:gridCol w="2258658"/>
                <a:gridCol w="2151103"/>
                <a:gridCol w="2151103"/>
              </a:tblGrid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模式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N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正确性均值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自检均值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平均修复轮次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direct_answer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4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1.00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0.25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plain_guidance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4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process_guided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4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58495" y="4160520"/>
            <a:ext cx="4937760" cy="159131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Self-check coverage</a:t>
            </a:r>
            <a:endParaRPr sz="16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direct_answer：1.0</a:t>
            </a:r>
            <a:endParaRPr sz="14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plain_guidance：2.0</a:t>
            </a:r>
            <a:endParaRPr sz="14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process_guided：2.0</a:t>
            </a:r>
            <a:endParaRPr sz="14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897880" y="4160520"/>
            <a:ext cx="5623560" cy="1567180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代表证据：run_007 plain_guidance baseline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run doc：runs/2026-03-26_run_007_a1_plain_guidance_baseline.md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metrics 行：artifact_complete=2，runnable=1，correct=2，self_check=2，fix_rounds=0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输出路径：outputs/hw1_op1/run_007_plain_guidance/，seam_width / seam_height / compare_grid 已生成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这页结论仍收在自检覆盖和回归说明，不扩展成大样本效果。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阶段结果 A2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低秩图像修复：指标稳定，过程更清楚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12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12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042415"/>
            <a:ext cx="2029968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15</a:t>
            </a:r>
            <a:endParaRPr sz="22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指导记录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43784" y="1042415"/>
            <a:ext cx="2029968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60</a:t>
            </a:r>
            <a:endParaRPr sz="22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恢复结果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84648" y="1042415"/>
            <a:ext cx="2029968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9</a:t>
            </a:r>
            <a:endParaRPr sz="22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故障修复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525512" y="1042415"/>
            <a:ext cx="2029968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BF24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48</a:t>
            </a:r>
            <a:endParaRPr sz="2200" b="1" i="0">
              <a:solidFill>
                <a:srgbClr val="FBBF24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扩展案例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866376" y="1042415"/>
            <a:ext cx="2029968" cy="74980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7185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3×20</a:t>
            </a:r>
            <a:endParaRPr sz="2200" b="1" i="0">
              <a:solidFill>
                <a:srgbClr val="FB7185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固定案例 / 模式</a:t>
            </a:r>
            <a:endParaRPr sz="105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2212848"/>
          <a:ext cx="10863069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5145"/>
                <a:gridCol w="1086307"/>
                <a:gridCol w="1777593"/>
                <a:gridCol w="1777593"/>
                <a:gridCol w="1678838"/>
                <a:gridCol w="1777593"/>
              </a:tblGrid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模式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Cases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Mean PSNR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Mean SSIM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Mean RSE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Output OK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direct_answer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25.42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0.756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0.145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20/20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plain_guidance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25.42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0.756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0.145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20/20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1605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process_guided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25.42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0.756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0.145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20/20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58495" y="4251960"/>
            <a:ext cx="5257800" cy="1438275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代表证据：run_031 plain_guidance baseline</a:t>
            </a:r>
            <a:endParaRPr sz="14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run doc：runs/2026-04-12_run_031_a2_plain_guidance_baseline.md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固定 4 case：lena / barbara × random_pixel@50% / text@50%，output_ok=4/4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metrics 行：PSNR 15.1519-34.9722，SSIM 0.3766-0.9762，RSE 0.0397-0.3245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44895" y="4251960"/>
            <a:ext cx="5376545" cy="1428115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结论边界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三种提示条件的固定协议均值一致：PSNR 25.42，SSIM 0.756，RSE 0.145。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若追问 A2 指标没差异：不说恢复质量提升，只说流程稳定和过程质量改善。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证据重点放在可复查 run、metrics 回填、自检覆盖和回归说明。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纠错评估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故障修复结果与错误分类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13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13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078992"/>
          <a:ext cx="1086306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993"/>
                <a:gridCol w="857610"/>
                <a:gridCol w="1715221"/>
                <a:gridCol w="1715221"/>
                <a:gridCol w="1715221"/>
                <a:gridCol w="1905802"/>
              </a:tblGrid>
              <a:tr h="49377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案例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N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诊断说明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可运行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回归说明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平均修复轮次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49377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A1 failure repair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9/9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9/9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9/9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93776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A2 failure repair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9/9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9/9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9/9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0.00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" y="2926080"/>
            <a:ext cx="5230368" cy="111556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错误分类</a:t>
            </a:r>
            <a:endParaRPr sz="14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范围漂移｜接口 / I-O｜核心不变量｜算法逻辑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shape / 数值｜材料完整性｜结果解释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44768" y="2926080"/>
            <a:ext cx="5376672" cy="1115568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8BF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固定记录项</a:t>
            </a:r>
            <a:endParaRPr sz="1400" b="1" i="0">
              <a:solidFill>
                <a:srgbClr val="A78BFA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root cause｜minimal patch｜regression point｜metrics row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4663440"/>
            <a:ext cx="10863072" cy="530352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解释边界：这些故障修复记录能说明流程和表单可用，但样本量还小，不能直接说已经具备“大样本稳健性”。</a:t>
            </a:r>
            <a:endParaRPr sz="114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原型与预试验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CLI 入口与首轮采集准备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14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14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1097280"/>
            <a:ext cx="5257800" cy="1160145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CLI 原型</a:t>
            </a:r>
            <a:endParaRPr sz="14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python run_research_case.py --demo advisor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已实跑：A2 plain_guidance 从题目、Task Card、prompt 到 run doc 与 metrics 摘要可以一条命令串起。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可现场切换：A1 baseline / A2 bug-repair / A2 expanded-scope。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44895" y="1097280"/>
            <a:ext cx="5376545" cy="1165860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内部演练</a:t>
            </a:r>
            <a:endParaRPr sz="14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PILOT_20260420_000：T2_A1_bug_01 + process_guided_workflow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participant form、session record、scoring sheet、CSV 已落盘；首次可运行 8 min，总时长 17 min，help=0。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2487168"/>
          <a:ext cx="10881358" cy="221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772"/>
                <a:gridCol w="2680914"/>
                <a:gridCol w="3416852"/>
                <a:gridCol w="2207812"/>
                <a:gridCol w="1577008"/>
              </a:tblGrid>
              <a:tr h="442569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编号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任务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条件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材料状态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备注</a:t>
                      </a:r>
                      <a:endParaRPr sz="1200" b="1" i="0">
                        <a:solidFill>
                          <a:srgbClr val="22D3EE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6233B"/>
                    </a:solidFill>
                  </a:tcPr>
                </a:tc>
              </a:tr>
              <a:tr h="442569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S01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T2_A1_bug_01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baseline workflow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任务包就绪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待采集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42569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S02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T2_A1_bug_01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process-guided workflow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任务包就绪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待采集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42569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S03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T3_A2_bug_01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baseline workflow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任务包就绪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待采集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  <a:tr h="442569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S04</a:t>
                      </a:r>
                      <a:endParaRPr sz="1200" b="1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B2B4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T3_A2_bug_01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process-guided workflow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任务包就绪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F8FAFC"/>
                          </a:solidFill>
                          <a:latin typeface="Saturday Sans Regular" panose="02010600010101010101" charset="-122"/>
                          <a:ea typeface="Saturday Sans Regular" panose="02010600010101010101" charset="-122"/>
                          <a:cs typeface="Saturday Sans Regular" panose="02010600010101010101" charset="-122"/>
                        </a:rPr>
                        <a:t>待采集</a:t>
                      </a:r>
                      <a:endParaRPr sz="1200" b="0" i="0">
                        <a:solidFill>
                          <a:srgbClr val="F8FAFC"/>
                        </a:solidFill>
                        <a:latin typeface="Saturday Sans Regular" panose="02010600010101010101" charset="-122"/>
                        <a:ea typeface="Saturday Sans Regular" panose="02010600010101010101" charset="-122"/>
                        <a:cs typeface="Saturday Sans Regular" panose="02010600010101010101" charset="-122"/>
                      </a:endParaRPr>
                    </a:p>
                  </a:txBody>
                  <a:tcPr marL="27432" marR="27432" marT="18288" marB="18288" anchor="ctr"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40080" y="5166360"/>
            <a:ext cx="10881360" cy="850900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 人预试验口径：目标是验证表单、评分口径和采集链路，不作为正式教学效果。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采集与评分：session log 覆盖背景、完成度、运行、自检、根因、回归和附件路径；正式数据采集后再回填 session log 和评分表。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08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411480" y="475488"/>
            <a:ext cx="73152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66928" y="32918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结论与计划</a:t>
            </a:r>
            <a:endParaRPr sz="21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694944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目前可以给出的判断与下一步安排</a:t>
            </a:r>
            <a:endParaRPr sz="115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789920" y="384048"/>
            <a:ext cx="868680" cy="347472"/>
          </a:xfrm>
          <a:prstGeom prst="roundRect">
            <a:avLst/>
          </a:prstGeom>
          <a:solidFill>
            <a:srgbClr val="16233B"/>
          </a:solidFill>
          <a:ln w="889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15</a:t>
            </a:r>
            <a:endParaRPr sz="115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6547104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大模型技术在数学建模与求解教学中的应用方法研究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547104"/>
            <a:ext cx="685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15</a:t>
            </a:r>
            <a:endParaRPr sz="1000" b="0" i="0">
              <a:solidFill>
                <a:srgbClr val="94A3B8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5216" y="1078992"/>
            <a:ext cx="3456432" cy="98755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当前结论 1</a:t>
            </a:r>
            <a:endParaRPr sz="14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A1 / A2 主案例已经闭环，仓库里已经能查到从题目到指标的证据链。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79976" y="1078992"/>
            <a:ext cx="3456432" cy="98755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4D39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当前结论 2</a:t>
            </a:r>
            <a:endParaRPr sz="1400" b="1" i="0">
              <a:solidFill>
                <a:srgbClr val="34D399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结构化指导的主要优势，现在体现在自检覆盖、根因说明和回归说明上。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74736" y="1078992"/>
            <a:ext cx="3456432" cy="98755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7185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当前边界</a:t>
            </a:r>
            <a:endParaRPr sz="1400" b="1" i="0">
              <a:solidFill>
                <a:srgbClr val="FB7185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正式受试者数据还没采集，所以不做大样本教学效果断言。</a:t>
            </a:r>
            <a:endParaRPr sz="120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85216" y="2542032"/>
            <a:ext cx="11045952" cy="402336"/>
          </a:xfrm>
          <a:prstGeom prst="roundRect">
            <a:avLst/>
          </a:prstGeom>
          <a:solidFill>
            <a:srgbClr val="1B2B4A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64008" rtlCol="0" anchor="ctr">
            <a:no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D3E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下一步计划</a:t>
            </a:r>
            <a:endParaRPr sz="1600" b="1" i="0">
              <a:solidFill>
                <a:srgbClr val="22D3E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4526280" cy="41148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987552" y="3328415"/>
            <a:ext cx="292608" cy="2560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1</a:t>
            </a:r>
            <a:endParaRPr sz="10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53312" y="3368040"/>
            <a:ext cx="3977639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启动 S01-S04 四个小样本预试验 session</a:t>
            </a:r>
            <a:endParaRPr sz="107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4526280" cy="41148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336792" y="3328415"/>
            <a:ext cx="292608" cy="2560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2</a:t>
            </a:r>
            <a:endParaRPr sz="10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3361690"/>
            <a:ext cx="3977639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每个 session 结束后，及时回填表单、记录、评分表和 CSV</a:t>
            </a:r>
            <a:endParaRPr sz="107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" y="3849624"/>
            <a:ext cx="4526280" cy="41148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987552" y="3931920"/>
            <a:ext cx="292608" cy="2560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3</a:t>
            </a:r>
            <a:endParaRPr sz="10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53312" y="3959478"/>
            <a:ext cx="3977639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根据首轮反馈，修订模板字段和评分口径</a:t>
            </a:r>
            <a:endParaRPr sz="1070" b="0" i="0">
              <a:solidFill>
                <a:srgbClr val="CBD5E1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63640" y="3849624"/>
            <a:ext cx="4526280" cy="41148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6336792" y="3931920"/>
            <a:ext cx="292608" cy="2560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4</a:t>
            </a:r>
            <a:endParaRPr sz="10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2552" y="3972178"/>
            <a:ext cx="3977639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下一轮按首轮反馈，在 A3 / A4 扩展入口和 T1_A1_width 中选择更适合正式链路的任务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453128"/>
            <a:ext cx="4526280" cy="411480"/>
          </a:xfrm>
          <a:prstGeom prst="roundRect">
            <a:avLst/>
          </a:prstGeom>
          <a:solidFill>
            <a:srgbClr val="111A2E"/>
          </a:solidFill>
          <a:ln w="10160">
            <a:solidFill>
              <a:srgbClr val="2A3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3502152" y="4535424"/>
            <a:ext cx="292608" cy="256032"/>
          </a:xfrm>
          <a:prstGeom prst="roundRect">
            <a:avLst/>
          </a:prstGeom>
          <a:solidFill>
            <a:srgbClr val="16233B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8FAFC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5</a:t>
            </a:r>
            <a:endParaRPr sz="1000" b="1" i="0">
              <a:solidFill>
                <a:srgbClr val="F8FAFC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67912" y="4582033"/>
            <a:ext cx="3977639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继续把选定扩展任务推进到固定协议、正式实验链路和可回填指标表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" y="5504688"/>
            <a:ext cx="11045952" cy="457200"/>
          </a:xfrm>
          <a:prstGeom prst="roundRect">
            <a:avLst/>
          </a:prstGeom>
          <a:solidFill>
            <a:srgbClr val="0D17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>
            <a:no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BD5E1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中期汇报口径：主案例已闭环，正式采集前材料已准备好；结论收在过程质量、可复查性和采集准备三点。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2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3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4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5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6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7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8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9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0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1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2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3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4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5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6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7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8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19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20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21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22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23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ags/tag24.xml><?xml version="1.0" encoding="utf-8"?>
<p:tagLst xmlns:p="http://schemas.openxmlformats.org/presentationml/2006/main">
  <p:tag name="KSO_WM_DIAGRAM_VIRTUALLY_FRAME" val="{&quot;height&quot;:113.75999999999999,&quot;left&quot;:44.64,&quot;top&quot;:248.4,&quot;width&quot;:869.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5861</Words>
  <Application>WPS 演示</Application>
  <PresentationFormat>On-screen Show (4:3)</PresentationFormat>
  <Paragraphs>899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Saturday Sans Regular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云丹央宗</cp:lastModifiedBy>
  <cp:revision>6</cp:revision>
  <dcterms:created xsi:type="dcterms:W3CDTF">2013-01-27T09:14:00Z</dcterms:created>
  <dcterms:modified xsi:type="dcterms:W3CDTF">2026-04-29T00:26:01Z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D7D47E22C6F2483B949E7390E7969465_12</vt:lpwstr>
  </property>
  <property fmtid="{D5CDD505-2E9C-101B-9397-08002B2CF9AE}" pid="3" name="KSOProductBuildVer">
    <vt:lpwstr>2052-12.1.0.23542</vt:lpwstr>
  </property>
</Properties>
</file>